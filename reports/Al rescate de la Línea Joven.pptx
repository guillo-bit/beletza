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09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46CFD56-E74D-46D7-A822-3A365FC491DB}" type="datetime1">
              <a:rPr lang="es-ES" smtClean="0"/>
              <a:t>01/12/2025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BF9A36D-7FAC-478F-9944-F324014F6FD1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D8ACD52-3BC9-4181-9014-67395FAB9A59}" type="datetime1">
              <a:rPr lang="es-ES" smtClean="0"/>
              <a:t>01/12/2025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4B9A9E5-4F7F-4A7D-9DE1-89923232926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es-ES" sz="2000"/>
            </a:lvl1pPr>
            <a:lvl2pPr>
              <a:lnSpc>
                <a:spcPct val="120000"/>
              </a:lnSpc>
              <a:defRPr lang="es-ES" sz="1800"/>
            </a:lvl2pPr>
            <a:lvl3pPr>
              <a:lnSpc>
                <a:spcPct val="120000"/>
              </a:lnSpc>
              <a:defRPr lang="es-ES" sz="1600"/>
            </a:lvl3pPr>
            <a:lvl4pPr>
              <a:lnSpc>
                <a:spcPct val="120000"/>
              </a:lnSpc>
              <a:defRPr lang="es-ES" sz="1400"/>
            </a:lvl4pPr>
            <a:lvl5pPr>
              <a:lnSpc>
                <a:spcPct val="120000"/>
              </a:lnSpc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s-ES" sz="2000"/>
            </a:lvl1pPr>
            <a:lvl2pPr marL="457200" indent="0">
              <a:buNone/>
              <a:defRPr lang="es-ES" sz="1800"/>
            </a:lvl2pPr>
            <a:lvl3pPr marL="914400" indent="0">
              <a:buNone/>
              <a:defRPr lang="es-ES" sz="1600"/>
            </a:lvl3pPr>
            <a:lvl4pPr marL="1371600" indent="0">
              <a:buNone/>
              <a:defRPr lang="es-ES" sz="1400"/>
            </a:lvl4pPr>
            <a:lvl5pPr marL="1828800" indent="0"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izqui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derech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posición de título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es-ES" sz="2000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es-ES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es-ES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es-ES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es-ES" sz="16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n-US"/>
              <a:t>Click icon to add table</a:t>
            </a:r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s-ES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328"/>
            <a:ext cx="8785113" cy="56836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3200" dirty="0">
                <a:solidFill>
                  <a:schemeClr val="accent2">
                    <a:lumMod val="50000"/>
                  </a:schemeClr>
                </a:solidFill>
              </a:rPr>
              <a:t>Al rescate de la Línea Joven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DA2EC-33CE-482B-D74A-F3FCA8268678}"/>
              </a:ext>
            </a:extLst>
          </p:cNvPr>
          <p:cNvSpPr txBox="1"/>
          <p:nvPr/>
        </p:nvSpPr>
        <p:spPr>
          <a:xfrm>
            <a:off x="116541" y="671691"/>
            <a:ext cx="11331388" cy="569386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C" sz="1600" dirty="0">
                <a:solidFill>
                  <a:schemeClr val="tx1"/>
                </a:solidFill>
              </a:rPr>
              <a:t>Objetivo: Analizar y optimizar el desempeño de la Línea Joven en ventas, web y marketing, mediante un enfoque integrado de Data </a:t>
            </a:r>
            <a:r>
              <a:rPr lang="es-EC" sz="1600" dirty="0" err="1">
                <a:solidFill>
                  <a:schemeClr val="tx1"/>
                </a:solidFill>
              </a:rPr>
              <a:t>Analytics</a:t>
            </a:r>
            <a:r>
              <a:rPr lang="es-EC" sz="1600" dirty="0">
                <a:solidFill>
                  <a:schemeClr val="tx1"/>
                </a:solidFill>
              </a:rPr>
              <a:t> y Modelado Predictivo.</a:t>
            </a:r>
          </a:p>
          <a:p>
            <a:endParaRPr lang="es-EC" sz="1600" dirty="0">
              <a:solidFill>
                <a:schemeClr val="tx1"/>
              </a:solidFill>
            </a:endParaRPr>
          </a:p>
          <a:p>
            <a:r>
              <a:rPr lang="es-EC" sz="1600" dirty="0">
                <a:solidFill>
                  <a:schemeClr val="tx1"/>
                </a:solidFill>
              </a:rPr>
              <a:t>Estrategia general:</a:t>
            </a:r>
          </a:p>
          <a:p>
            <a:r>
              <a:rPr lang="es-EC" sz="1600" dirty="0">
                <a:solidFill>
                  <a:schemeClr val="tx1"/>
                </a:solidFill>
              </a:rPr>
              <a:t>1. Recolección y consolidación de datos: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Ventas: unidades, ingresos, precios.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Web: visitas, tiempo en página, clics, </a:t>
            </a:r>
            <a:r>
              <a:rPr lang="es-EC" sz="1600" dirty="0" err="1">
                <a:solidFill>
                  <a:schemeClr val="tx1"/>
                </a:solidFill>
              </a:rPr>
              <a:t>add-to-cart</a:t>
            </a:r>
            <a:r>
              <a:rPr lang="es-EC" sz="1600" dirty="0">
                <a:solidFill>
                  <a:schemeClr val="tx1"/>
                </a:solidFill>
              </a:rPr>
              <a:t> y compras.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Marketing: inversión, conversiones, CPM, CPC, CTR.</a:t>
            </a:r>
          </a:p>
          <a:p>
            <a:r>
              <a:rPr lang="es-EC" sz="1600" dirty="0">
                <a:solidFill>
                  <a:schemeClr val="tx1"/>
                </a:solidFill>
              </a:rPr>
              <a:t>2. Limpieza y transformación: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Normalización de fechas, identificación de línea joven, cálculo de métricas clave.</a:t>
            </a:r>
          </a:p>
          <a:p>
            <a:r>
              <a:rPr lang="es-EC" sz="1600" dirty="0">
                <a:solidFill>
                  <a:schemeClr val="tx1"/>
                </a:solidFill>
              </a:rPr>
              <a:t>3. Análisis exploratorio de datos (EDA):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Estadísticas descriptivas, gráficos básicos, correlaciones, tendencias mensuales.</a:t>
            </a:r>
          </a:p>
          <a:p>
            <a:r>
              <a:rPr lang="es-EC" sz="1600" dirty="0">
                <a:solidFill>
                  <a:schemeClr val="tx1"/>
                </a:solidFill>
              </a:rPr>
              <a:t>4. Integración de </a:t>
            </a:r>
            <a:r>
              <a:rPr lang="es-EC" sz="1600" dirty="0" err="1">
                <a:solidFill>
                  <a:schemeClr val="tx1"/>
                </a:solidFill>
              </a:rPr>
              <a:t>datasets</a:t>
            </a:r>
            <a:r>
              <a:rPr lang="es-EC" sz="1600" dirty="0">
                <a:solidFill>
                  <a:schemeClr val="tx1"/>
                </a:solidFill>
              </a:rPr>
              <a:t>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Consolidación mensual de ventas, web y marketing.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Creación de métricas derivadas: ROI marketing, tasas de conversión, precio promedio.</a:t>
            </a:r>
          </a:p>
          <a:p>
            <a:r>
              <a:rPr lang="es-EC" sz="1600" dirty="0">
                <a:solidFill>
                  <a:schemeClr val="tx1"/>
                </a:solidFill>
              </a:rPr>
              <a:t>5. Modelado predictivo: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</a:t>
            </a:r>
            <a:r>
              <a:rPr lang="es-EC" sz="1600" dirty="0" err="1">
                <a:solidFill>
                  <a:schemeClr val="tx1"/>
                </a:solidFill>
              </a:rPr>
              <a:t>RandomForest</a:t>
            </a:r>
            <a:r>
              <a:rPr lang="es-EC" sz="1600" dirty="0">
                <a:solidFill>
                  <a:schemeClr val="tx1"/>
                </a:solidFill>
              </a:rPr>
              <a:t> y </a:t>
            </a:r>
            <a:r>
              <a:rPr lang="es-EC" sz="1600" dirty="0" err="1">
                <a:solidFill>
                  <a:schemeClr val="tx1"/>
                </a:solidFill>
              </a:rPr>
              <a:t>GradientBoosting</a:t>
            </a:r>
            <a:r>
              <a:rPr lang="es-EC" sz="1600" dirty="0">
                <a:solidFill>
                  <a:schemeClr val="tx1"/>
                </a:solidFill>
              </a:rPr>
              <a:t> para identificar factores clave que influyen en ventas.</a:t>
            </a:r>
          </a:p>
          <a:p>
            <a:r>
              <a:rPr lang="es-EC" sz="1600" dirty="0">
                <a:solidFill>
                  <a:schemeClr val="tx1"/>
                </a:solidFill>
              </a:rPr>
              <a:t>6. Generación de reportes y visualizaciones: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Guardado de gráficos por subcarpeta en `</a:t>
            </a:r>
            <a:r>
              <a:rPr lang="es-EC" sz="1600" dirty="0" err="1">
                <a:solidFill>
                  <a:schemeClr val="tx1"/>
                </a:solidFill>
              </a:rPr>
              <a:t>reports</a:t>
            </a:r>
            <a:r>
              <a:rPr lang="es-EC" sz="1600" dirty="0">
                <a:solidFill>
                  <a:schemeClr val="tx1"/>
                </a:solidFill>
              </a:rPr>
              <a:t>/figures/final`.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Guardado de </a:t>
            </a:r>
            <a:r>
              <a:rPr lang="es-EC" sz="1600" dirty="0" err="1">
                <a:solidFill>
                  <a:schemeClr val="tx1"/>
                </a:solidFill>
              </a:rPr>
              <a:t>datasets</a:t>
            </a:r>
            <a:r>
              <a:rPr lang="es-EC" sz="1600" dirty="0">
                <a:solidFill>
                  <a:schemeClr val="tx1"/>
                </a:solidFill>
              </a:rPr>
              <a:t> finales en `data/final`.</a:t>
            </a:r>
          </a:p>
          <a:p>
            <a:r>
              <a:rPr lang="es-EC" sz="1600" dirty="0">
                <a:solidFill>
                  <a:schemeClr val="tx1"/>
                </a:solidFill>
              </a:rPr>
              <a:t>7. Resumen ejecutivo y conclusiones:</a:t>
            </a:r>
          </a:p>
          <a:p>
            <a:r>
              <a:rPr lang="es-EC" sz="1600" dirty="0">
                <a:solidFill>
                  <a:schemeClr val="tx1"/>
                </a:solidFill>
              </a:rPr>
              <a:t>   - Identificación de meses clave, recomendaciones y oportunidades de mejora.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46C16-5A67-BE50-F1FE-92AF66062896}"/>
              </a:ext>
            </a:extLst>
          </p:cNvPr>
          <p:cNvSpPr txBox="1"/>
          <p:nvPr/>
        </p:nvSpPr>
        <p:spPr>
          <a:xfrm>
            <a:off x="116541" y="6446895"/>
            <a:ext cx="9957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400" dirty="0">
                <a:solidFill>
                  <a:schemeClr val="tx2"/>
                </a:solidFill>
              </a:rPr>
              <a:t>Datos crudos → Limpieza/Transformación → EDA → Integración → Modelado Predictivo → Visualización → Reporte Ejecutivo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CEF5F-5440-039A-E534-D0C342CD6566}"/>
              </a:ext>
            </a:extLst>
          </p:cNvPr>
          <p:cNvSpPr txBox="1"/>
          <p:nvPr/>
        </p:nvSpPr>
        <p:spPr>
          <a:xfrm>
            <a:off x="10074088" y="202843"/>
            <a:ext cx="176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>
                <a:solidFill>
                  <a:schemeClr val="accent2"/>
                </a:solidFill>
              </a:rPr>
              <a:t>Guillermo Tapia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68" y="177842"/>
            <a:ext cx="6571129" cy="86780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Resumen Ejecutivo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9D3F97-A122-4E57-7ADC-DB3063CF9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069138"/>
              </p:ext>
            </p:extLst>
          </p:nvPr>
        </p:nvGraphicFramePr>
        <p:xfrm>
          <a:off x="2227728" y="1891412"/>
          <a:ext cx="7983071" cy="32918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164106">
                  <a:extLst>
                    <a:ext uri="{9D8B030D-6E8A-4147-A177-3AD203B41FA5}">
                      <a16:colId xmlns:a16="http://schemas.microsoft.com/office/drawing/2014/main" val="283804488"/>
                    </a:ext>
                  </a:extLst>
                </a:gridCol>
                <a:gridCol w="2554941">
                  <a:extLst>
                    <a:ext uri="{9D8B030D-6E8A-4147-A177-3AD203B41FA5}">
                      <a16:colId xmlns:a16="http://schemas.microsoft.com/office/drawing/2014/main" val="3877497600"/>
                    </a:ext>
                  </a:extLst>
                </a:gridCol>
                <a:gridCol w="1264024">
                  <a:extLst>
                    <a:ext uri="{9D8B030D-6E8A-4147-A177-3AD203B41FA5}">
                      <a16:colId xmlns:a16="http://schemas.microsoft.com/office/drawing/2014/main" val="149937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 dirty="0"/>
                        <a:t>Indicador</a:t>
                      </a:r>
                      <a:endParaRPr lang="es-EC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 dirty="0"/>
                        <a:t>Mes</a:t>
                      </a:r>
                      <a:endParaRPr lang="es-EC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Valor</a:t>
                      </a:r>
                      <a:endParaRPr lang="es-EC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41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 dirty="0"/>
                        <a:t>Periodo Analizado</a:t>
                      </a:r>
                      <a:endParaRPr lang="es-EC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Mayo 2024 – Abril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4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Clientes 18-25 años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163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Mes con mayor ROI Marketing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35.77%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38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Mes con menor ROI Marketing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2025-04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9.58%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709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 dirty="0"/>
                        <a:t>Mes con mayor Tasa de conversión web</a:t>
                      </a:r>
                      <a:endParaRPr lang="es-EC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67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Mes con menor Tasa de conversión web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2024-06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43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Mes con mayor Ingresos Totales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679,130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849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b="1"/>
                        <a:t>Mes con menor Ingresos Totales</a:t>
                      </a:r>
                      <a:endParaRPr lang="es-EC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/>
                        <a:t>2024-12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C" dirty="0"/>
                        <a:t>504,221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319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r>
              <a:rPr lang="es-ES" kern="1200" cap="all" baseline="0">
                <a:latin typeface="+mj-lt"/>
                <a:ea typeface="+mj-ea"/>
                <a:cs typeface="+mj-cs"/>
              </a:rPr>
              <a:t>Evolución Ventas -Ingresos</a:t>
            </a:r>
          </a:p>
        </p:txBody>
      </p:sp>
      <p:pic>
        <p:nvPicPr>
          <p:cNvPr id="10" name="Picture 9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31F1D07B-F469-F4F5-F9BA-73A65D18A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5" r="15790" b="2"/>
          <a:stretch>
            <a:fillRect/>
          </a:stretch>
        </p:blipFill>
        <p:spPr>
          <a:xfrm>
            <a:off x="914399" y="2022250"/>
            <a:ext cx="6257366" cy="391491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8A61AC-146F-E8B2-BDB2-B1DCFB734826}"/>
              </a:ext>
            </a:extLst>
          </p:cNvPr>
          <p:cNvSpPr txBox="1"/>
          <p:nvPr/>
        </p:nvSpPr>
        <p:spPr>
          <a:xfrm>
            <a:off x="7967475" y="2018119"/>
            <a:ext cx="2449514" cy="3931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Evolución mensual de unidades vendidas e ingresos totales.</a:t>
            </a:r>
          </a:p>
          <a:p>
            <a:pPr marL="22860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Se observa crecimiento en ingresos durante Febrero 2025, coincidiendo con incremento en ROI de marketing.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3EB35D4F-684D-2D5E-32E8-EF0C3CE2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s-ES" smtClean="0"/>
              <a:pPr>
                <a:spcAft>
                  <a:spcPts val="600"/>
                </a:spcAft>
              </a:pPr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ROI de Marketing</a:t>
            </a:r>
          </a:p>
        </p:txBody>
      </p:sp>
      <p:pic>
        <p:nvPicPr>
          <p:cNvPr id="6" name="Picture 5" descr="A graph with green bars&#10;&#10;AI-generated content may be incorrect.">
            <a:extLst>
              <a:ext uri="{FF2B5EF4-FFF2-40B4-BE49-F238E27FC236}">
                <a16:creationId xmlns:a16="http://schemas.microsoft.com/office/drawing/2014/main" id="{C46EBA83-4E24-57A3-5497-74105269F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15363"/>
            <a:ext cx="6257366" cy="3128683"/>
          </a:xfrm>
          <a:prstGeom prst="rect">
            <a:avLst/>
          </a:prstGeom>
          <a:noFill/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C" sz="1700" b="0" dirty="0"/>
              <a:t>ROI mensual del marketing digital para la Línea Joven.</a:t>
            </a:r>
          </a:p>
          <a:p>
            <a:r>
              <a:rPr lang="es-EC" sz="1700" b="0" dirty="0"/>
              <a:t>Febrero 2025 destaca como el mes con mayor eficiencia en inversión (35.77%).</a:t>
            </a:r>
          </a:p>
          <a:p>
            <a:r>
              <a:rPr lang="es-EC" sz="1700" b="0" dirty="0"/>
              <a:t>Abril 2025 presenta el ROI más bajo (9.58%), indicando oportunidad de optimización.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09290B6-347C-5AD2-782C-A53187C92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93" y="0"/>
            <a:ext cx="9524998" cy="1499627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Tasas de Conversión web</a:t>
            </a:r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7870D73-9305-95C9-CDA1-5AF5DF4927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8" r="697" b="2"/>
          <a:stretch>
            <a:fillRect/>
          </a:stretch>
        </p:blipFill>
        <p:spPr>
          <a:xfrm>
            <a:off x="471725" y="3217984"/>
            <a:ext cx="4706624" cy="2944691"/>
          </a:xfrm>
          <a:prstGeom prst="rect">
            <a:avLst/>
          </a:pr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1305" y="1596088"/>
            <a:ext cx="9291574" cy="3931919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C" sz="1700" b="0" dirty="0"/>
              <a:t>Se muestran la tasa de conversión y la tasa de </a:t>
            </a:r>
            <a:r>
              <a:rPr lang="es-EC" sz="1700" b="0" dirty="0" err="1"/>
              <a:t>add-to-cart</a:t>
            </a:r>
            <a:r>
              <a:rPr lang="es-EC" sz="1700" b="0" dirty="0"/>
              <a:t> mensuales.</a:t>
            </a:r>
          </a:p>
          <a:p>
            <a:r>
              <a:rPr lang="es-EC" sz="1700" b="0" dirty="0"/>
              <a:t>Febrero 2025 también lidera la tasa de conversión web (15%).</a:t>
            </a:r>
          </a:p>
          <a:p>
            <a:r>
              <a:rPr lang="es-EC" sz="1700" b="0" dirty="0"/>
              <a:t>Junio 2024 presenta conversión nula (0%), indicando necesidad de mejora en </a:t>
            </a:r>
            <a:r>
              <a:rPr lang="es-EC" sz="1700" b="0" dirty="0" err="1"/>
              <a:t>engagement</a:t>
            </a:r>
            <a:r>
              <a:rPr lang="es-EC" sz="1700" b="0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5</a:t>
            </a:fld>
            <a:endParaRPr lang="es-ES"/>
          </a:p>
        </p:txBody>
      </p:sp>
      <p:pic>
        <p:nvPicPr>
          <p:cNvPr id="8" name="Picture 7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19D0EC11-4515-1F95-BB22-E4E486441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321820"/>
            <a:ext cx="5474041" cy="27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r>
              <a:rPr lang="es-EC" dirty="0"/>
              <a:t>Evolución Consolidada Ventas, Web y Marketing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C" b="0" noProof="1"/>
              <a:t>Análisis combinado de ventas, comportamiento web e inversión de marketing.</a:t>
            </a:r>
          </a:p>
          <a:p>
            <a:r>
              <a:rPr lang="es-EC" b="0" noProof="1"/>
              <a:t>Permite observar correlaciones y tendencias integrales.</a:t>
            </a:r>
            <a:endParaRPr lang="es-ES" b="0" noProof="1"/>
          </a:p>
        </p:txBody>
      </p:sp>
      <p:pic>
        <p:nvPicPr>
          <p:cNvPr id="8" name="Picture 7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398088D8-40DF-7CAF-1749-FD2D3904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13" b="1"/>
          <a:stretch>
            <a:fillRect/>
          </a:stretch>
        </p:blipFill>
        <p:spPr>
          <a:xfrm>
            <a:off x="4602310" y="2018120"/>
            <a:ext cx="6751489" cy="3747180"/>
          </a:xfrm>
          <a:prstGeom prst="rect">
            <a:avLst/>
          </a:prstGeo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D21954E-BB7F-D9C8-824F-283150FC5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10235"/>
            <a:ext cx="4471517" cy="72344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Correlaciones </a:t>
            </a:r>
            <a:r>
              <a:rPr lang="es-ES" dirty="0" err="1"/>
              <a:t>ClaVe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25" y="1172216"/>
            <a:ext cx="5181600" cy="3225355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r>
              <a:rPr lang="es-ES" noProof="1"/>
              <a:t>Matriz de correlaciones entre métricas principales:</a:t>
            </a:r>
          </a:p>
          <a:p>
            <a:endParaRPr lang="es-ES" noProof="1"/>
          </a:p>
          <a:p>
            <a:r>
              <a:rPr lang="es-ES" noProof="1"/>
              <a:t>Correlaciones más relevantes (|corr| &gt; 0.5):</a:t>
            </a:r>
          </a:p>
          <a:p>
            <a:r>
              <a:rPr lang="es-ES" noProof="1"/>
              <a:t>- Ventas ↔ Ingresos Totales: 0.78</a:t>
            </a:r>
          </a:p>
          <a:p>
            <a:r>
              <a:rPr lang="es-ES" noProof="1"/>
              <a:t>- Ventas ↔ Compras web: 0.50</a:t>
            </a:r>
          </a:p>
          <a:p>
            <a:r>
              <a:rPr lang="es-ES" noProof="1"/>
              <a:t>- Inversión Marketing ↔ Compras web: -0.58</a:t>
            </a:r>
          </a:p>
          <a:p>
            <a:r>
              <a:rPr lang="es-ES" noProof="1"/>
              <a:t>- Inversión Marketing ↔ Conversiones: 0.65</a:t>
            </a:r>
          </a:p>
          <a:p>
            <a:r>
              <a:rPr lang="es-ES" noProof="1"/>
              <a:t>- Add-to-cart ↔ Compras web: 0.71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D606D7-B11C-E5BB-DB99-5942254175EA}"/>
              </a:ext>
            </a:extLst>
          </p:cNvPr>
          <p:cNvSpPr txBox="1">
            <a:spLocks/>
          </p:cNvSpPr>
          <p:nvPr/>
        </p:nvSpPr>
        <p:spPr>
          <a:xfrm>
            <a:off x="5961529" y="210235"/>
            <a:ext cx="6042212" cy="1185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/>
              <a:t>Modelos Predictivos y </a:t>
            </a:r>
            <a:r>
              <a:rPr lang="es-EC" dirty="0" err="1"/>
              <a:t>Feature</a:t>
            </a:r>
            <a:r>
              <a:rPr lang="es-EC" dirty="0"/>
              <a:t> </a:t>
            </a:r>
            <a:r>
              <a:rPr lang="es-EC" dirty="0" err="1"/>
              <a:t>Importance</a:t>
            </a:r>
            <a:endParaRPr lang="es-EC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E63B9-05A9-6AEC-1F03-690D38F33AA2}"/>
              </a:ext>
            </a:extLst>
          </p:cNvPr>
          <p:cNvSpPr txBox="1"/>
          <p:nvPr/>
        </p:nvSpPr>
        <p:spPr>
          <a:xfrm>
            <a:off x="5961529" y="131886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 err="1"/>
              <a:t>RandomForest</a:t>
            </a:r>
            <a:r>
              <a:rPr lang="es-EC" dirty="0"/>
              <a:t>:</a:t>
            </a:r>
          </a:p>
          <a:p>
            <a:r>
              <a:rPr lang="es-EC" dirty="0"/>
              <a:t>- RMSE: 80.30, R²: -15.27</a:t>
            </a:r>
          </a:p>
          <a:p>
            <a:r>
              <a:rPr lang="es-EC" dirty="0"/>
              <a:t>- Variables más importantes: Inversión Marketing, Conversiones, Tiempo promedio web</a:t>
            </a:r>
          </a:p>
          <a:p>
            <a:endParaRPr lang="es-EC" dirty="0"/>
          </a:p>
          <a:p>
            <a:r>
              <a:rPr lang="es-EC" dirty="0" err="1"/>
              <a:t>GradientBoosting</a:t>
            </a:r>
            <a:r>
              <a:rPr lang="es-EC" dirty="0"/>
              <a:t>:</a:t>
            </a:r>
          </a:p>
          <a:p>
            <a:r>
              <a:rPr lang="es-EC" dirty="0"/>
              <a:t>- RMSE: 98.84, R²: -23.66</a:t>
            </a:r>
          </a:p>
          <a:p>
            <a:r>
              <a:rPr lang="es-EC" dirty="0"/>
              <a:t>- Variables más importantes: Conversiones, Clics, </a:t>
            </a:r>
            <a:r>
              <a:rPr lang="es-EC" dirty="0" err="1"/>
              <a:t>Add-to-cart</a:t>
            </a:r>
            <a:endParaRPr lang="es-EC" dirty="0"/>
          </a:p>
        </p:txBody>
      </p:sp>
      <p:pic>
        <p:nvPicPr>
          <p:cNvPr id="14" name="Picture 13" descr="A graph of a number of colored bars&#10;&#10;AI-generated content may be incorrect.">
            <a:extLst>
              <a:ext uri="{FF2B5EF4-FFF2-40B4-BE49-F238E27FC236}">
                <a16:creationId xmlns:a16="http://schemas.microsoft.com/office/drawing/2014/main" id="{BC1F5A02-5C66-35E1-F64C-719073C0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51" y="3991990"/>
            <a:ext cx="4547350" cy="2842093"/>
          </a:xfrm>
          <a:prstGeom prst="rect">
            <a:avLst/>
          </a:prstGeom>
        </p:spPr>
      </p:pic>
      <p:pic>
        <p:nvPicPr>
          <p:cNvPr id="16" name="Picture 1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A474A21E-4F6C-9A03-9EAF-8AA11BBBE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25" y="4211644"/>
            <a:ext cx="4019849" cy="25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Conclusiones y Recomendaciones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15CB97-1D32-31A8-441E-48B3DDFA7E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86118" y="2018120"/>
            <a:ext cx="10367681" cy="3747180"/>
          </a:xfrm>
        </p:spPr>
        <p:txBody>
          <a:bodyPr/>
          <a:lstStyle/>
          <a:p>
            <a:r>
              <a:rPr lang="es-EC" dirty="0"/>
              <a:t>1. Febrero 2025 fue el mes más destacado en ROI, conversión web e ingresos.</a:t>
            </a:r>
          </a:p>
          <a:p>
            <a:r>
              <a:rPr lang="es-EC" dirty="0"/>
              <a:t>2. La relación entre inversión y resultados no es lineal; optimizar inversión puede mejorar ROI.</a:t>
            </a:r>
          </a:p>
          <a:p>
            <a:r>
              <a:rPr lang="es-EC" dirty="0"/>
              <a:t>3. Variables web (clics, </a:t>
            </a:r>
            <a:r>
              <a:rPr lang="es-EC" dirty="0" err="1"/>
              <a:t>add-to-cart</a:t>
            </a:r>
            <a:r>
              <a:rPr lang="es-EC" dirty="0"/>
              <a:t>) impactan fuertemente las compras.</a:t>
            </a:r>
          </a:p>
          <a:p>
            <a:r>
              <a:rPr lang="es-EC" dirty="0"/>
              <a:t>4. Recomendación: campañas focalizadas, mejorar </a:t>
            </a:r>
            <a:r>
              <a:rPr lang="es-EC" dirty="0" err="1"/>
              <a:t>engagement</a:t>
            </a:r>
            <a:r>
              <a:rPr lang="es-EC" dirty="0"/>
              <a:t> web y ajustar inversión en meses bajos</a:t>
            </a:r>
          </a:p>
        </p:txBody>
      </p:sp>
      <p:pic>
        <p:nvPicPr>
          <p:cNvPr id="11" name="Picture 10" descr="A graph with red and orange lines&#10;&#10;AI-generated content may be incorrect.">
            <a:extLst>
              <a:ext uri="{FF2B5EF4-FFF2-40B4-BE49-F238E27FC236}">
                <a16:creationId xmlns:a16="http://schemas.microsoft.com/office/drawing/2014/main" id="{55675F63-3DCC-F804-53AD-AA03261F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49" y="2285991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628348" cy="14487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Próximos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8552330" cy="374718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C" dirty="0"/>
              <a:t>1. Implementar estrategia de marketing optimizada para meses de bajo ROI.</a:t>
            </a:r>
          </a:p>
          <a:p>
            <a:r>
              <a:rPr lang="es-EC" dirty="0"/>
              <a:t>2. Mejorar experiencia web y tasas de conversión.</a:t>
            </a:r>
          </a:p>
          <a:p>
            <a:r>
              <a:rPr lang="es-EC" dirty="0"/>
              <a:t>3. Monitorear en tiempo real indicadores clave de Línea Joven.</a:t>
            </a:r>
          </a:p>
          <a:p>
            <a:r>
              <a:rPr lang="es-EC" dirty="0"/>
              <a:t>4. Ampliar análisis predictivo para ajustar inversión y promociones.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Información general del mercado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299013" cy="391491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Oportunidad de crear</a:t>
            </a:r>
          </a:p>
          <a:p>
            <a:pPr rtl="0"/>
            <a:r>
              <a:rPr lang="es-ES" dirty="0"/>
              <a:t>Mercado totalmente inclusivo</a:t>
            </a:r>
          </a:p>
          <a:p>
            <a:pPr rtl="0"/>
            <a:r>
              <a:rPr lang="es-ES" dirty="0"/>
              <a:t>Mercado total disponible</a:t>
            </a:r>
          </a:p>
          <a:p>
            <a:pPr rtl="0"/>
            <a:r>
              <a:rPr lang="es-ES" noProof="1"/>
              <a:t>Libertad para crear</a:t>
            </a:r>
            <a:endParaRPr lang="es-ES" dirty="0"/>
          </a:p>
          <a:p>
            <a:pPr rtl="0"/>
            <a:r>
              <a:rPr lang="es-ES" noProof="1"/>
              <a:t>Mercado inclusivo de forma selectiva</a:t>
            </a:r>
          </a:p>
          <a:p>
            <a:pPr rtl="0"/>
            <a:r>
              <a:rPr lang="es-ES" noProof="1"/>
              <a:t>Mercado disponible útil</a:t>
            </a:r>
          </a:p>
        </p:txBody>
      </p:sp>
      <p:graphicFrame>
        <p:nvGraphicFramePr>
          <p:cNvPr id="6" name="Tabla 11">
            <a:extLst>
              <a:ext uri="{FF2B5EF4-FFF2-40B4-BE49-F238E27FC236}">
                <a16:creationId xmlns:a16="http://schemas.microsoft.com/office/drawing/2014/main" id="{2EE5D6E7-8306-54E8-220A-099D3B755FFE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3742760090"/>
              </p:ext>
            </p:extLst>
          </p:nvPr>
        </p:nvGraphicFramePr>
        <p:xfrm>
          <a:off x="4602163" y="2017713"/>
          <a:ext cx="6675294" cy="392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72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78509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endParaRPr lang="es-E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Clientes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Pedidos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Ingresos brutos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Ingresos netos</a:t>
                      </a: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8509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10 000 €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7 000 €</a:t>
                      </a: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78509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20 000 €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16 000 €</a:t>
                      </a: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78509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30 000 €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25 000 €</a:t>
                      </a: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8509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/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40 000 €</a:t>
                      </a: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s-ES"/>
                      </a:pPr>
                      <a:r>
                        <a:rPr lang="es-ES" sz="1800" noProof="0" dirty="0">
                          <a:solidFill>
                            <a:schemeClr val="tx1"/>
                          </a:solidFill>
                        </a:rPr>
                        <a:t>30 000 €</a:t>
                      </a: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579534" cy="391491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Nuestro producto hace la vida más fácil a los consumidores y ningún otro producto del mercado ofrece las mismas características.</a:t>
            </a:r>
          </a:p>
          <a:p>
            <a:pPr lvl="1" rtl="0"/>
            <a:r>
              <a:rPr lang="es-ES" dirty="0"/>
              <a:t>Generación Z (de 18 a 25 años)</a:t>
            </a:r>
          </a:p>
          <a:p>
            <a:pPr lvl="1" rtl="0"/>
            <a:r>
              <a:rPr lang="es-ES" dirty="0"/>
              <a:t>Reducción de los gastos de los productos de repuesto </a:t>
            </a:r>
          </a:p>
          <a:p>
            <a:pPr lvl="1" rtl="0"/>
            <a:r>
              <a:rPr lang="es-ES" dirty="0"/>
              <a:t>Diseño sencillo que proporciona a los clientes la información específica que necesitan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67475" y="2018119"/>
            <a:ext cx="2449514" cy="393191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Cerrar la brecha</a:t>
            </a:r>
          </a:p>
          <a:p>
            <a:pPr rtl="0"/>
            <a:r>
              <a:rPr lang="es-ES" dirty="0"/>
              <a:t>Público objetivo </a:t>
            </a:r>
          </a:p>
          <a:p>
            <a:pPr rtl="0"/>
            <a:r>
              <a:rPr lang="es-ES" dirty="0"/>
              <a:t>Ahorro de costos</a:t>
            </a:r>
          </a:p>
          <a:p>
            <a:pPr rtl="0"/>
            <a:r>
              <a:rPr lang="es-ES" dirty="0"/>
              <a:t>Fácil de usar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Finanzas</a:t>
            </a:r>
          </a:p>
        </p:txBody>
      </p:sp>
      <p:graphicFrame>
        <p:nvGraphicFramePr>
          <p:cNvPr id="5" name="Tabla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133369783"/>
              </p:ext>
            </p:extLst>
          </p:nvPr>
        </p:nvGraphicFramePr>
        <p:xfrm>
          <a:off x="923925" y="2009775"/>
          <a:ext cx="10363201" cy="39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555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1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2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3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1 600 000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Ventas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Precio medio por venta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15 % de los 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Beneficio bruto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Brita Tamm</a:t>
            </a:r>
          </a:p>
          <a:p>
            <a:pPr rtl="0"/>
            <a:r>
              <a:rPr lang="es-ES"/>
              <a:t>502-555-0152</a:t>
            </a:r>
          </a:p>
          <a:p>
            <a:pPr rtl="0"/>
            <a:r>
              <a:rPr lang="es-ES"/>
              <a:t>brita@firstupconsultants.com</a:t>
            </a:r>
          </a:p>
          <a:p>
            <a:pPr rtl="0"/>
            <a:r>
              <a:rPr lang="es-ES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3_TF22318419_Win32" id="{C35A026D-3477-4C90-9128-052FBAE4EBCF}" vid="{4F91F622-3491-4FD9-8658-5CFF78D770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</Template>
  <TotalTime>0</TotalTime>
  <Words>913</Words>
  <Application>Microsoft Office PowerPoint</Application>
  <PresentationFormat>Widescreen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Personalizar</vt:lpstr>
      <vt:lpstr>Al rescate de la Línea Joven</vt:lpstr>
      <vt:lpstr>Resumen Ejecutivo</vt:lpstr>
      <vt:lpstr>Evolución Ventas -Ingresos</vt:lpstr>
      <vt:lpstr>ROI de Marketing</vt:lpstr>
      <vt:lpstr>Tasas de Conversión web</vt:lpstr>
      <vt:lpstr>Evolución Consolidada Ventas, Web y Marketing</vt:lpstr>
      <vt:lpstr>Correlaciones ClaVe</vt:lpstr>
      <vt:lpstr>Conclusiones y Recomendaciones</vt:lpstr>
      <vt:lpstr>Próximos Pasos</vt:lpstr>
      <vt:lpstr>Información general del mercado</vt:lpstr>
      <vt:lpstr>Solución</vt:lpstr>
      <vt:lpstr>Finanzas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Guillermo Tapia Buenaño</dc:creator>
  <cp:lastModifiedBy>Alexis Guillermo Tapia Buenaño</cp:lastModifiedBy>
  <cp:revision>1</cp:revision>
  <dcterms:created xsi:type="dcterms:W3CDTF">2025-12-01T18:05:56Z</dcterms:created>
  <dcterms:modified xsi:type="dcterms:W3CDTF">2025-12-01T18:35:11Z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7b10915-602c-481a-bdc7-238d429ea082_Enabled">
    <vt:lpwstr>true</vt:lpwstr>
  </property>
  <property fmtid="{D5CDD505-2E9C-101B-9397-08002B2CF9AE}" pid="4" name="MSIP_Label_f7b10915-602c-481a-bdc7-238d429ea082_SetDate">
    <vt:lpwstr>2025-12-01T18:34:19Z</vt:lpwstr>
  </property>
  <property fmtid="{D5CDD505-2E9C-101B-9397-08002B2CF9AE}" pid="5" name="MSIP_Label_f7b10915-602c-481a-bdc7-238d429ea082_Method">
    <vt:lpwstr>Standard</vt:lpwstr>
  </property>
  <property fmtid="{D5CDD505-2E9C-101B-9397-08002B2CF9AE}" pid="6" name="MSIP_Label_f7b10915-602c-481a-bdc7-238d429ea082_Name">
    <vt:lpwstr>defa4170-0d19-0005-0004-bc88714345d2</vt:lpwstr>
  </property>
  <property fmtid="{D5CDD505-2E9C-101B-9397-08002B2CF9AE}" pid="7" name="MSIP_Label_f7b10915-602c-481a-bdc7-238d429ea082_SiteId">
    <vt:lpwstr>9f119962-8c62-431c-a8ef-e7e0a42d11fc</vt:lpwstr>
  </property>
  <property fmtid="{D5CDD505-2E9C-101B-9397-08002B2CF9AE}" pid="8" name="MSIP_Label_f7b10915-602c-481a-bdc7-238d429ea082_ActionId">
    <vt:lpwstr>10f39345-ac1a-4af3-be08-6dc00fecf85e</vt:lpwstr>
  </property>
  <property fmtid="{D5CDD505-2E9C-101B-9397-08002B2CF9AE}" pid="9" name="MSIP_Label_f7b10915-602c-481a-bdc7-238d429ea082_ContentBits">
    <vt:lpwstr>0</vt:lpwstr>
  </property>
  <property fmtid="{D5CDD505-2E9C-101B-9397-08002B2CF9AE}" pid="10" name="MSIP_Label_f7b10915-602c-481a-bdc7-238d429ea082_Tag">
    <vt:lpwstr>10, 3, 0, 1</vt:lpwstr>
  </property>
</Properties>
</file>