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6" r:id="rId4"/>
  </p:sldMasterIdLst>
  <p:notesMasterIdLst>
    <p:notesMasterId r:id="rId18"/>
  </p:notesMasterIdLst>
  <p:handoutMasterIdLst>
    <p:handoutMasterId r:id="rId19"/>
  </p:handoutMasterIdLst>
  <p:sldIdLst>
    <p:sldId id="314" r:id="rId5"/>
    <p:sldId id="315" r:id="rId6"/>
    <p:sldId id="316" r:id="rId7"/>
    <p:sldId id="317" r:id="rId8"/>
    <p:sldId id="318" r:id="rId9"/>
    <p:sldId id="319" r:id="rId10"/>
    <p:sldId id="320" r:id="rId11"/>
    <p:sldId id="321" r:id="rId12"/>
    <p:sldId id="322" r:id="rId13"/>
    <p:sldId id="323" r:id="rId14"/>
    <p:sldId id="324" r:id="rId15"/>
    <p:sldId id="325" r:id="rId16"/>
    <p:sldId id="309" r:id="rId17"/>
  </p:sldIdLst>
  <p:sldSz cx="12192000" cy="6858000"/>
  <p:notesSz cx="6858000" cy="9144000"/>
  <p:defaultTextStyle>
    <a:defPPr rtl="0">
      <a:defRPr lang="es-ES"/>
    </a:defPPr>
    <a:lvl1pPr marL="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388" autoAdjust="0"/>
  </p:normalViewPr>
  <p:slideViewPr>
    <p:cSldViewPr snapToGrid="0">
      <p:cViewPr varScale="1">
        <p:scale>
          <a:sx n="85" d="100"/>
          <a:sy n="85" d="100"/>
        </p:scale>
        <p:origin x="590" y="53"/>
      </p:cViewPr>
      <p:guideLst>
        <p:guide orient="horz" pos="3360"/>
        <p:guide pos="3840"/>
      </p:guideLst>
    </p:cSldViewPr>
  </p:slideViewPr>
  <p:outlineViewPr>
    <p:cViewPr>
      <p:scale>
        <a:sx n="33" d="100"/>
        <a:sy n="33" d="100"/>
      </p:scale>
      <p:origin x="0" y="-12672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882" y="144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53F6ED8B-CF52-4A64-BACC-61D9C1041E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es-ES" sz="1200"/>
            </a:lvl1pPr>
          </a:lstStyle>
          <a:p>
            <a:pPr rtl="0"/>
            <a:endParaRPr lang="es-ES" dirty="0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0D7022B2-02C5-4E03-99BC-0BA3C57AC49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es-ES" sz="1200"/>
            </a:lvl1pPr>
          </a:lstStyle>
          <a:p>
            <a:pPr rtl="0"/>
            <a:fld id="{146CFD56-E74D-46D7-A822-3A365FC491DB}" type="datetime1">
              <a:rPr lang="es-ES" smtClean="0"/>
              <a:t>01/12/2025</a:t>
            </a:fld>
            <a:endParaRPr lang="es-ES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C3FEE8C-8D38-4F2A-950E-071C6823E27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es-ES" sz="1200"/>
            </a:lvl1pPr>
          </a:lstStyle>
          <a:p>
            <a:pPr rtl="0"/>
            <a:endParaRPr lang="es-E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C567A6D-959B-4552-AB8D-4CCA819CAA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es-ES" sz="1200"/>
            </a:lvl1pPr>
          </a:lstStyle>
          <a:p>
            <a:pPr rtl="0"/>
            <a:fld id="{4BF9A36D-7FAC-478F-9944-F324014F6FD1}" type="slidenum">
              <a:rPr lang="es-ES" smtClean="0"/>
              <a:t>‹#›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34246769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es-ES" sz="1200"/>
            </a:lvl1pPr>
          </a:lstStyle>
          <a:p>
            <a:pPr rtl="0"/>
            <a:endParaRPr lang="es-ES" dirty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es-ES" sz="1200"/>
            </a:lvl1pPr>
          </a:lstStyle>
          <a:p>
            <a:pPr rtl="0"/>
            <a:fld id="{1D8ACD52-3BC9-4181-9014-67395FAB9A59}" type="datetime1">
              <a:rPr lang="es-ES" smtClean="0"/>
              <a:t>01/12/2025</a:t>
            </a:fld>
            <a:endParaRPr lang="es-ES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es-ES"/>
            </a:defPPr>
          </a:lstStyle>
          <a:p>
            <a:pPr lvl="0" rtl="0"/>
            <a:r>
              <a:rPr lang="es-ES"/>
              <a:t>Haga clic para modificar los estilos de texto del patrón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es-ES" sz="1200"/>
            </a:lvl1pPr>
          </a:lstStyle>
          <a:p>
            <a:pPr rtl="0"/>
            <a:endParaRPr lang="es-ES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es-ES" sz="1200"/>
            </a:lvl1pPr>
          </a:lstStyle>
          <a:p>
            <a:pPr rtl="0"/>
            <a:fld id="{D4B9A9E5-4F7F-4A7D-9DE1-899232329269}" type="slidenum">
              <a:rPr lang="es-ES" smtClean="0"/>
              <a:t>‹#›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38778318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D4B9A9E5-4F7F-4A7D-9DE1-899232329269}" type="slidenum">
              <a:rPr lang="es-ES" smtClean="0"/>
              <a:t>1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5691378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D4B9A9E5-4F7F-4A7D-9DE1-899232329269}" type="slidenum">
              <a:rPr lang="es-ES" smtClean="0"/>
              <a:t>2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6989693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D4B9A9E5-4F7F-4A7D-9DE1-899232329269}" type="slidenum">
              <a:rPr lang="es-ES" smtClean="0"/>
              <a:t>3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5285505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D4B9A9E5-4F7F-4A7D-9DE1-899232329269}" type="slidenum">
              <a:rPr lang="es-ES" smtClean="0"/>
              <a:t>4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3360335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D4B9A9E5-4F7F-4A7D-9DE1-899232329269}" type="slidenum">
              <a:rPr lang="es-ES" smtClean="0"/>
              <a:t>5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6312420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D4B9A9E5-4F7F-4A7D-9DE1-899232329269}" type="slidenum">
              <a:rPr lang="es-ES" smtClean="0"/>
              <a:t>6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4864728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D4B9A9E5-4F7F-4A7D-9DE1-899232329269}" type="slidenum">
              <a:rPr lang="es-ES" smtClean="0"/>
              <a:t>7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5551265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D4B9A9E5-4F7F-4A7D-9DE1-899232329269}" type="slidenum">
              <a:rPr lang="es-ES" smtClean="0"/>
              <a:t>8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9842295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D4B9A9E5-4F7F-4A7D-9DE1-899232329269}" type="slidenum">
              <a:rPr lang="es-ES" smtClean="0"/>
              <a:t>9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5865656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D4B9A9E5-4F7F-4A7D-9DE1-899232329269}" type="slidenum">
              <a:rPr lang="es-ES" smtClean="0"/>
              <a:t>10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11001086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D4B9A9E5-4F7F-4A7D-9DE1-899232329269}" type="slidenum">
              <a:rPr lang="es-ES" smtClean="0"/>
              <a:t>11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6792382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D4B9A9E5-4F7F-4A7D-9DE1-899232329269}" type="slidenum">
              <a:rPr lang="es-ES" smtClean="0"/>
              <a:t>12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2617676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D4B9A9E5-4F7F-4A7D-9DE1-899232329269}" type="slidenum">
              <a:rPr lang="es-ES" smtClean="0"/>
              <a:t>13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4299665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1.svg"/><Relationship Id="rId4" Type="http://schemas.openxmlformats.org/officeDocument/2006/relationships/image" Target="../media/image20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4.svg"/><Relationship Id="rId4" Type="http://schemas.openxmlformats.org/officeDocument/2006/relationships/image" Target="../media/image15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874996-9779-1D0F-B5C6-7FE85FFF1E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2773681"/>
            <a:ext cx="5674360" cy="3200400"/>
          </a:xfrm>
        </p:spPr>
        <p:txBody>
          <a:bodyPr rtlCol="0" anchor="b">
            <a:normAutofit/>
          </a:bodyPr>
          <a:lstStyle>
            <a:lvl1pPr>
              <a:defRPr lang="es-ES" sz="4800">
                <a:solidFill>
                  <a:schemeClr val="bg1"/>
                </a:solidFill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pic>
        <p:nvPicPr>
          <p:cNvPr id="7" name="Gráfico 6">
            <a:extLst>
              <a:ext uri="{FF2B5EF4-FFF2-40B4-BE49-F238E27FC236}">
                <a16:creationId xmlns:a16="http://schemas.microsoft.com/office/drawing/2014/main" id="{96B97173-A601-1D66-1651-4FE0D76A0B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8454" t="1728"/>
          <a:stretch/>
        </p:blipFill>
        <p:spPr>
          <a:xfrm>
            <a:off x="-1" y="0"/>
            <a:ext cx="8264995" cy="5320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0847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áfico 8">
            <a:extLst>
              <a:ext uri="{FF2B5EF4-FFF2-40B4-BE49-F238E27FC236}">
                <a16:creationId xmlns:a16="http://schemas.microsoft.com/office/drawing/2014/main" id="{0DFB311A-EAAD-7656-C753-E8C7399485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4533" t="18691" r="1" b="-131"/>
          <a:stretch/>
        </p:blipFill>
        <p:spPr>
          <a:xfrm rot="5400000">
            <a:off x="7851419" y="-1244552"/>
            <a:ext cx="3096029" cy="5585137"/>
          </a:xfrm>
          <a:custGeom>
            <a:avLst/>
            <a:gdLst>
              <a:gd name="connsiteX0" fmla="*/ 0 w 1756624"/>
              <a:gd name="connsiteY0" fmla="*/ 0 h 6858000"/>
              <a:gd name="connsiteX1" fmla="*/ 1756624 w 1756624"/>
              <a:gd name="connsiteY1" fmla="*/ 0 h 6858000"/>
              <a:gd name="connsiteX2" fmla="*/ 1756624 w 1756624"/>
              <a:gd name="connsiteY2" fmla="*/ 6858000 h 6858000"/>
              <a:gd name="connsiteX3" fmla="*/ 0 w 175662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56624" h="6858000">
                <a:moveTo>
                  <a:pt x="0" y="0"/>
                </a:moveTo>
                <a:lnTo>
                  <a:pt x="1756624" y="0"/>
                </a:lnTo>
                <a:lnTo>
                  <a:pt x="17566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pic>
        <p:nvPicPr>
          <p:cNvPr id="10" name="Gráfico 9">
            <a:extLst>
              <a:ext uri="{FF2B5EF4-FFF2-40B4-BE49-F238E27FC236}">
                <a16:creationId xmlns:a16="http://schemas.microsoft.com/office/drawing/2014/main" id="{1612F0DE-D367-10BB-1F71-60AA6527CA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4151" r="18577"/>
          <a:stretch/>
        </p:blipFill>
        <p:spPr>
          <a:xfrm>
            <a:off x="7010400" y="0"/>
            <a:ext cx="5181600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F4F5799-FC34-2F2D-D11E-9B472CAF06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315533"/>
            <a:ext cx="5181600" cy="2376868"/>
          </a:xfrm>
        </p:spPr>
        <p:txBody>
          <a:bodyPr rtlCol="0" anchor="b">
            <a:normAutofit/>
          </a:bodyPr>
          <a:lstStyle>
            <a:lvl1pPr>
              <a:defRPr lang="es-ES" sz="3200"/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8" name="Marcador de contenido 7">
            <a:extLst>
              <a:ext uri="{FF2B5EF4-FFF2-40B4-BE49-F238E27FC236}">
                <a16:creationId xmlns:a16="http://schemas.microsoft.com/office/drawing/2014/main" id="{2575025C-084B-CD7A-F546-0E13BA13CFEF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400" y="2844800"/>
            <a:ext cx="5181600" cy="3128963"/>
          </a:xfrm>
        </p:spPr>
        <p:txBody>
          <a:bodyPr rtlCol="0">
            <a:normAutofit/>
          </a:bodyPr>
          <a:lstStyle>
            <a:lvl1pPr marL="0" indent="0">
              <a:lnSpc>
                <a:spcPct val="120000"/>
              </a:lnSpc>
              <a:buNone/>
              <a:defRPr lang="es-ES" sz="2000"/>
            </a:lvl1pPr>
            <a:lvl2pPr>
              <a:lnSpc>
                <a:spcPct val="120000"/>
              </a:lnSpc>
              <a:defRPr lang="es-ES" sz="1800"/>
            </a:lvl2pPr>
            <a:lvl3pPr>
              <a:lnSpc>
                <a:spcPct val="120000"/>
              </a:lnSpc>
              <a:defRPr lang="es-ES" sz="1600"/>
            </a:lvl3pPr>
            <a:lvl4pPr>
              <a:lnSpc>
                <a:spcPct val="120000"/>
              </a:lnSpc>
              <a:defRPr lang="es-ES" sz="1400"/>
            </a:lvl4pPr>
            <a:lvl5pPr>
              <a:lnSpc>
                <a:spcPct val="120000"/>
              </a:lnSpc>
              <a:defRPr lang="es-ES" sz="1400"/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5" name="Marcador de número de diapositiva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s-ES" sz="1200">
                <a:solidFill>
                  <a:schemeClr val="tx1"/>
                </a:solidFill>
              </a:defRPr>
            </a:lvl1pPr>
          </a:lstStyle>
          <a:p>
            <a:pPr rtl="0"/>
            <a:fld id="{B5CEABB6-07DC-46E8-9B57-56EC44A396E5}" type="slidenum">
              <a:rPr lang="es-ES" smtClean="0"/>
              <a:pPr rtl="0"/>
              <a:t>‹#›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2387509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de secció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áfico 6">
            <a:extLst>
              <a:ext uri="{FF2B5EF4-FFF2-40B4-BE49-F238E27FC236}">
                <a16:creationId xmlns:a16="http://schemas.microsoft.com/office/drawing/2014/main" id="{B5DE041D-A3BF-94FF-029C-719D4DADA2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3300" t="13815"/>
          <a:stretch/>
        </p:blipFill>
        <p:spPr>
          <a:xfrm>
            <a:off x="0" y="-1"/>
            <a:ext cx="4239206" cy="3776193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0DEE605D-0584-F71C-A97D-B672F13E391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2580640"/>
            <a:ext cx="5181600" cy="3368819"/>
          </a:xfrm>
        </p:spPr>
        <p:txBody>
          <a:bodyPr rtlCol="0" anchor="b">
            <a:normAutofit/>
          </a:bodyPr>
          <a:lstStyle>
            <a:lvl1pPr>
              <a:defRPr lang="es-ES" sz="4800">
                <a:solidFill>
                  <a:schemeClr val="bg1"/>
                </a:solidFill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9" name="Marcador de posición de imagen 8">
            <a:extLst>
              <a:ext uri="{FF2B5EF4-FFF2-40B4-BE49-F238E27FC236}">
                <a16:creationId xmlns:a16="http://schemas.microsoft.com/office/drawing/2014/main" id="{59AF635C-89E6-F6EF-FA6A-417A9A84BF4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85840" y="-10159"/>
            <a:ext cx="6116320" cy="6868160"/>
          </a:xfrm>
          <a:custGeom>
            <a:avLst/>
            <a:gdLst>
              <a:gd name="connsiteX0" fmla="*/ 0 w 6116320"/>
              <a:gd name="connsiteY0" fmla="*/ 0 h 6880225"/>
              <a:gd name="connsiteX1" fmla="*/ 6116320 w 6116320"/>
              <a:gd name="connsiteY1" fmla="*/ 0 h 6880225"/>
              <a:gd name="connsiteX2" fmla="*/ 6116320 w 6116320"/>
              <a:gd name="connsiteY2" fmla="*/ 6880225 h 6880225"/>
              <a:gd name="connsiteX3" fmla="*/ 0 w 6116320"/>
              <a:gd name="connsiteY3" fmla="*/ 6880225 h 6880225"/>
              <a:gd name="connsiteX4" fmla="*/ 0 w 6116320"/>
              <a:gd name="connsiteY4" fmla="*/ 0 h 6880225"/>
              <a:gd name="connsiteX0" fmla="*/ 0 w 6116320"/>
              <a:gd name="connsiteY0" fmla="*/ 0 h 6880225"/>
              <a:gd name="connsiteX1" fmla="*/ 6116320 w 6116320"/>
              <a:gd name="connsiteY1" fmla="*/ 0 h 6880225"/>
              <a:gd name="connsiteX2" fmla="*/ 6116320 w 6116320"/>
              <a:gd name="connsiteY2" fmla="*/ 6880225 h 6880225"/>
              <a:gd name="connsiteX3" fmla="*/ 2052320 w 6116320"/>
              <a:gd name="connsiteY3" fmla="*/ 6880225 h 6880225"/>
              <a:gd name="connsiteX4" fmla="*/ 0 w 6116320"/>
              <a:gd name="connsiteY4" fmla="*/ 0 h 6880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116320" h="6880225">
                <a:moveTo>
                  <a:pt x="0" y="0"/>
                </a:moveTo>
                <a:lnTo>
                  <a:pt x="6116320" y="0"/>
                </a:lnTo>
                <a:lnTo>
                  <a:pt x="6116320" y="6880225"/>
                </a:lnTo>
                <a:lnTo>
                  <a:pt x="2052320" y="6880225"/>
                </a:lnTo>
                <a:lnTo>
                  <a:pt x="0" y="0"/>
                </a:lnTo>
                <a:close/>
              </a:path>
            </a:pathLst>
          </a:custGeom>
        </p:spPr>
        <p:txBody>
          <a:bodyPr rtlCol="0">
            <a:normAutofit/>
          </a:bodyPr>
          <a:lstStyle>
            <a:lvl1pPr marL="0" indent="0" algn="ctr">
              <a:buNone/>
              <a:defRPr lang="es-ES" sz="2000">
                <a:solidFill>
                  <a:schemeClr val="bg1"/>
                </a:solidFill>
              </a:defRPr>
            </a:lvl1pPr>
          </a:lstStyle>
          <a:p>
            <a:pPr rtl="0"/>
            <a:r>
              <a:rPr lang="es-ES"/>
              <a:t>Haga clic en el icono para insertar una imagen</a:t>
            </a:r>
          </a:p>
        </p:txBody>
      </p:sp>
    </p:spTree>
    <p:extLst>
      <p:ext uri="{BB962C8B-B14F-4D97-AF65-F5344CB8AC3E}">
        <p14:creationId xmlns:p14="http://schemas.microsoft.com/office/powerpoint/2010/main" val="7367892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ción general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2B74EE53-DB22-C27E-074F-A7129585FE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5158" t="-5374" b="78533"/>
          <a:stretch/>
        </p:blipFill>
        <p:spPr>
          <a:xfrm rot="10800000">
            <a:off x="6324600" y="0"/>
            <a:ext cx="5867400" cy="1647324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278AEF0C-FA4B-8C23-0132-5529EC244F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0" y="1310639"/>
            <a:ext cx="4805997" cy="2689629"/>
          </a:xfrm>
        </p:spPr>
        <p:txBody>
          <a:bodyPr rtlCol="0" anchor="b">
            <a:normAutofit/>
          </a:bodyPr>
          <a:lstStyle>
            <a:lvl1pPr>
              <a:defRPr lang="es-ES" sz="4800"/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12" name="Marcador de posición de imagen 11">
            <a:extLst>
              <a:ext uri="{FF2B5EF4-FFF2-40B4-BE49-F238E27FC236}">
                <a16:creationId xmlns:a16="http://schemas.microsoft.com/office/drawing/2014/main" id="{B3DD4867-9B0B-647C-1F78-5E50BF30F08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-10160"/>
            <a:ext cx="6096000" cy="6858000"/>
          </a:xfrm>
          <a:custGeom>
            <a:avLst/>
            <a:gdLst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609600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405384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96000" h="6858000">
                <a:moveTo>
                  <a:pt x="0" y="0"/>
                </a:moveTo>
                <a:lnTo>
                  <a:pt x="6096000" y="0"/>
                </a:lnTo>
                <a:lnTo>
                  <a:pt x="405384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</p:spPr>
        <p:txBody>
          <a:bodyPr rtlCol="0">
            <a:normAutofit/>
          </a:bodyPr>
          <a:lstStyle>
            <a:lvl1pPr marL="0" indent="0" algn="ctr">
              <a:buNone/>
              <a:defRPr lang="es-ES" sz="2000"/>
            </a:lvl1pPr>
          </a:lstStyle>
          <a:p>
            <a:pPr rtl="0"/>
            <a:r>
              <a:rPr lang="en-US"/>
              <a:t>Click icon to add picture</a:t>
            </a:r>
            <a:endParaRPr lang="es-ES"/>
          </a:p>
        </p:txBody>
      </p:sp>
      <p:sp>
        <p:nvSpPr>
          <p:cNvPr id="10" name="Marcador de contenido 9">
            <a:extLst>
              <a:ext uri="{FF2B5EF4-FFF2-40B4-BE49-F238E27FC236}">
                <a16:creationId xmlns:a16="http://schemas.microsoft.com/office/drawing/2014/main" id="{BFF4D65D-965A-5E86-4D91-C72D1D03A8B9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26163" y="4172990"/>
            <a:ext cx="4805997" cy="2389736"/>
          </a:xfrm>
        </p:spPr>
        <p:txBody>
          <a:bodyPr rtlCol="0">
            <a:normAutofit/>
          </a:bodyPr>
          <a:lstStyle>
            <a:lvl1pPr marL="0" indent="0">
              <a:buFont typeface="Arial" panose="020B0604020202020204" pitchFamily="34" charset="0"/>
              <a:buNone/>
              <a:defRPr lang="es-ES" sz="2000"/>
            </a:lvl1pPr>
            <a:lvl2pPr marL="457200" indent="0">
              <a:buNone/>
              <a:defRPr lang="es-ES" sz="1800"/>
            </a:lvl2pPr>
            <a:lvl3pPr marL="914400" indent="0">
              <a:buNone/>
              <a:defRPr lang="es-ES" sz="1600"/>
            </a:lvl3pPr>
            <a:lvl4pPr marL="1371600" indent="0">
              <a:buNone/>
              <a:defRPr lang="es-ES" sz="1400"/>
            </a:lvl4pPr>
            <a:lvl5pPr marL="1828800" indent="0">
              <a:buNone/>
              <a:defRPr lang="es-ES" sz="1400"/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</p:spTree>
    <p:extLst>
      <p:ext uri="{BB962C8B-B14F-4D97-AF65-F5344CB8AC3E}">
        <p14:creationId xmlns:p14="http://schemas.microsoft.com/office/powerpoint/2010/main" val="2263656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04C9F686-E069-3B60-9625-01EE6A41D7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5239"/>
          <a:stretch/>
        </p:blipFill>
        <p:spPr>
          <a:xfrm flipH="1">
            <a:off x="9135414" y="0"/>
            <a:ext cx="3056586" cy="6858000"/>
          </a:xfrm>
          <a:custGeom>
            <a:avLst/>
            <a:gdLst>
              <a:gd name="connsiteX0" fmla="*/ 4284372 w 4284372"/>
              <a:gd name="connsiteY0" fmla="*/ 0 h 6858000"/>
              <a:gd name="connsiteX1" fmla="*/ 0 w 4284372"/>
              <a:gd name="connsiteY1" fmla="*/ 0 h 6858000"/>
              <a:gd name="connsiteX2" fmla="*/ 0 w 4284372"/>
              <a:gd name="connsiteY2" fmla="*/ 6858000 h 6858000"/>
              <a:gd name="connsiteX3" fmla="*/ 4284372 w 4284372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284372" h="6858000">
                <a:moveTo>
                  <a:pt x="4284372" y="0"/>
                </a:moveTo>
                <a:lnTo>
                  <a:pt x="0" y="0"/>
                </a:lnTo>
                <a:lnTo>
                  <a:pt x="0" y="6858000"/>
                </a:lnTo>
                <a:lnTo>
                  <a:pt x="4284372" y="6858000"/>
                </a:lnTo>
                <a:close/>
              </a:path>
            </a:pathLst>
          </a:cu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6D7227F9-50F9-820B-69B7-924C02120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2330"/>
          <a:stretch/>
        </p:blipFill>
        <p:spPr>
          <a:xfrm>
            <a:off x="7810500" y="3025140"/>
            <a:ext cx="4381500" cy="383286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48D1E69-316E-A8E1-7ADA-040A0E4907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399" y="365125"/>
            <a:ext cx="7273637" cy="1646555"/>
          </a:xfrm>
        </p:spPr>
        <p:txBody>
          <a:bodyPr rtlCol="0">
            <a:normAutofit/>
          </a:bodyPr>
          <a:lstStyle>
            <a:lvl1pPr>
              <a:defRPr lang="es-ES" sz="3200"/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11" name="Marcador de contenido 10">
            <a:extLst>
              <a:ext uri="{FF2B5EF4-FFF2-40B4-BE49-F238E27FC236}">
                <a16:creationId xmlns:a16="http://schemas.microsoft.com/office/drawing/2014/main" id="{61069CA0-E0AB-99C6-10DB-13AAC019DD7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11363"/>
            <a:ext cx="7273638" cy="4155757"/>
          </a:xfrm>
        </p:spPr>
        <p:txBody>
          <a:bodyPr rtlCol="0"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lang="es-ES" sz="2000"/>
            </a:lvl1pPr>
            <a:lvl2pPr>
              <a:spcBef>
                <a:spcPts val="0"/>
              </a:spcBef>
              <a:spcAft>
                <a:spcPts val="1200"/>
              </a:spcAft>
              <a:defRPr lang="es-ES" sz="1800"/>
            </a:lvl2pPr>
            <a:lvl3pPr>
              <a:spcBef>
                <a:spcPts val="0"/>
              </a:spcBef>
              <a:spcAft>
                <a:spcPts val="1200"/>
              </a:spcAft>
              <a:defRPr lang="es-ES" sz="1600"/>
            </a:lvl3pPr>
            <a:lvl4pPr>
              <a:spcBef>
                <a:spcPts val="0"/>
              </a:spcBef>
              <a:spcAft>
                <a:spcPts val="1200"/>
              </a:spcAft>
              <a:defRPr lang="es-ES" sz="1400"/>
            </a:lvl4pPr>
            <a:lvl5pPr>
              <a:spcBef>
                <a:spcPts val="0"/>
              </a:spcBef>
              <a:spcAft>
                <a:spcPts val="1200"/>
              </a:spcAft>
              <a:defRPr lang="es-ES" sz="1400"/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5" name="Marcador de número de diapositiva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s-ES" sz="1200">
                <a:solidFill>
                  <a:schemeClr val="tx1"/>
                </a:solidFill>
              </a:defRPr>
            </a:lvl1pPr>
          </a:lstStyle>
          <a:p>
            <a:pPr rtl="0"/>
            <a:fld id="{B5CEABB6-07DC-46E8-9B57-56EC44A396E5}" type="slidenum">
              <a:rPr lang="es-ES" smtClean="0"/>
              <a:pPr rtl="0"/>
              <a:t>‹#›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8152138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, contenido e imagen a la izquierda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áfico 5">
            <a:extLst>
              <a:ext uri="{FF2B5EF4-FFF2-40B4-BE49-F238E27FC236}">
                <a16:creationId xmlns:a16="http://schemas.microsoft.com/office/drawing/2014/main" id="{4589277D-BC14-E7E0-5822-5575F563E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>
            <a:off x="8039100" y="228600"/>
            <a:ext cx="4381500" cy="39243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FDB1BDE-C8F3-ACC0-740B-CBD812877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375285"/>
            <a:ext cx="4896678" cy="3624984"/>
          </a:xfrm>
        </p:spPr>
        <p:txBody>
          <a:bodyPr rtlCol="0" anchor="b">
            <a:normAutofit/>
          </a:bodyPr>
          <a:lstStyle>
            <a:lvl1pPr>
              <a:defRPr lang="es-ES" sz="4800">
                <a:solidFill>
                  <a:schemeClr val="bg1"/>
                </a:solidFill>
              </a:defRPr>
            </a:lvl1pPr>
          </a:lstStyle>
          <a:p>
            <a:pPr rtl="0"/>
            <a:r>
              <a:rPr lang="en-US"/>
              <a:t>Click to edit Master title style</a:t>
            </a:r>
            <a:endParaRPr lang="es-ES" dirty="0"/>
          </a:p>
        </p:txBody>
      </p:sp>
      <p:sp>
        <p:nvSpPr>
          <p:cNvPr id="11" name="Marcador de posición de imagen 10">
            <a:extLst>
              <a:ext uri="{FF2B5EF4-FFF2-40B4-BE49-F238E27FC236}">
                <a16:creationId xmlns:a16="http://schemas.microsoft.com/office/drawing/2014/main" id="{128597A3-47D0-F393-55D9-07FFD951F39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6096000" cy="6858000"/>
          </a:xfrm>
          <a:custGeom>
            <a:avLst/>
            <a:gdLst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609600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  <a:gd name="connsiteX0" fmla="*/ 0 w 6096000"/>
              <a:gd name="connsiteY0" fmla="*/ 0 h 6858000"/>
              <a:gd name="connsiteX1" fmla="*/ 4053840 w 6096000"/>
              <a:gd name="connsiteY1" fmla="*/ 0 h 6858000"/>
              <a:gd name="connsiteX2" fmla="*/ 609600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  <a:gd name="connsiteX0" fmla="*/ 586 w 6096586"/>
              <a:gd name="connsiteY0" fmla="*/ 0 h 6858000"/>
              <a:gd name="connsiteX1" fmla="*/ 4054426 w 6096586"/>
              <a:gd name="connsiteY1" fmla="*/ 0 h 6858000"/>
              <a:gd name="connsiteX2" fmla="*/ 6096586 w 6096586"/>
              <a:gd name="connsiteY2" fmla="*/ 6858000 h 6858000"/>
              <a:gd name="connsiteX3" fmla="*/ 586 w 6096586"/>
              <a:gd name="connsiteY3" fmla="*/ 6858000 h 6858000"/>
              <a:gd name="connsiteX4" fmla="*/ 586 w 6096586"/>
              <a:gd name="connsiteY4" fmla="*/ 3669792 h 6858000"/>
              <a:gd name="connsiteX5" fmla="*/ 586 w 6096586"/>
              <a:gd name="connsiteY5" fmla="*/ 0 h 6858000"/>
              <a:gd name="connsiteX0" fmla="*/ 0 w 6096000"/>
              <a:gd name="connsiteY0" fmla="*/ 0 h 6858000"/>
              <a:gd name="connsiteX1" fmla="*/ 4053840 w 6096000"/>
              <a:gd name="connsiteY1" fmla="*/ 0 h 6858000"/>
              <a:gd name="connsiteX2" fmla="*/ 6096000 w 6096000"/>
              <a:gd name="connsiteY2" fmla="*/ 6858000 h 6858000"/>
              <a:gd name="connsiteX3" fmla="*/ 950976 w 6096000"/>
              <a:gd name="connsiteY3" fmla="*/ 6858000 h 6858000"/>
              <a:gd name="connsiteX4" fmla="*/ 0 w 6096000"/>
              <a:gd name="connsiteY4" fmla="*/ 3669792 h 6858000"/>
              <a:gd name="connsiteX5" fmla="*/ 0 w 6096000"/>
              <a:gd name="connsiteY5" fmla="*/ 0 h 6858000"/>
              <a:gd name="connsiteX0" fmla="*/ 0 w 6096000"/>
              <a:gd name="connsiteY0" fmla="*/ 0 h 6858000"/>
              <a:gd name="connsiteX1" fmla="*/ 4053840 w 6096000"/>
              <a:gd name="connsiteY1" fmla="*/ 0 h 6858000"/>
              <a:gd name="connsiteX2" fmla="*/ 6096000 w 6096000"/>
              <a:gd name="connsiteY2" fmla="*/ 6858000 h 6858000"/>
              <a:gd name="connsiteX3" fmla="*/ 950976 w 6096000"/>
              <a:gd name="connsiteY3" fmla="*/ 6858000 h 6858000"/>
              <a:gd name="connsiteX4" fmla="*/ 0 w 6096000"/>
              <a:gd name="connsiteY4" fmla="*/ 3669792 h 6858000"/>
              <a:gd name="connsiteX5" fmla="*/ 0 w 6096000"/>
              <a:gd name="connsiteY5" fmla="*/ 0 h 6858000"/>
              <a:gd name="connsiteX0" fmla="*/ 0 w 6096000"/>
              <a:gd name="connsiteY0" fmla="*/ 0 h 6858000"/>
              <a:gd name="connsiteX1" fmla="*/ 4053840 w 6096000"/>
              <a:gd name="connsiteY1" fmla="*/ 0 h 6858000"/>
              <a:gd name="connsiteX2" fmla="*/ 6096000 w 6096000"/>
              <a:gd name="connsiteY2" fmla="*/ 6858000 h 6858000"/>
              <a:gd name="connsiteX3" fmla="*/ 950976 w 6096000"/>
              <a:gd name="connsiteY3" fmla="*/ 6858000 h 6858000"/>
              <a:gd name="connsiteX4" fmla="*/ 0 w 6096000"/>
              <a:gd name="connsiteY4" fmla="*/ 3669792 h 6858000"/>
              <a:gd name="connsiteX5" fmla="*/ 0 w 60960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96000" h="6858000">
                <a:moveTo>
                  <a:pt x="0" y="0"/>
                </a:moveTo>
                <a:lnTo>
                  <a:pt x="4053840" y="0"/>
                </a:lnTo>
                <a:lnTo>
                  <a:pt x="6096000" y="6858000"/>
                </a:lnTo>
                <a:lnTo>
                  <a:pt x="950976" y="6858000"/>
                </a:lnTo>
                <a:lnTo>
                  <a:pt x="0" y="3669792"/>
                </a:lnTo>
                <a:lnTo>
                  <a:pt x="0" y="0"/>
                </a:lnTo>
                <a:close/>
              </a:path>
            </a:pathLst>
          </a:custGeom>
        </p:spPr>
        <p:txBody>
          <a:bodyPr rtlCol="0">
            <a:normAutofit/>
          </a:bodyPr>
          <a:lstStyle>
            <a:lvl1pPr marL="0" indent="0" algn="l">
              <a:buNone/>
              <a:defRPr lang="es-ES" sz="2000">
                <a:solidFill>
                  <a:schemeClr val="bg1"/>
                </a:solidFill>
              </a:defRPr>
            </a:lvl1pPr>
          </a:lstStyle>
          <a:p>
            <a:pPr rtl="0"/>
            <a:r>
              <a:rPr lang="en-US"/>
              <a:t>Click icon to add picture</a:t>
            </a:r>
            <a:endParaRPr lang="es-ES"/>
          </a:p>
        </p:txBody>
      </p:sp>
      <p:sp>
        <p:nvSpPr>
          <p:cNvPr id="9" name="Marcador de contenido 10">
            <a:extLst>
              <a:ext uri="{FF2B5EF4-FFF2-40B4-BE49-F238E27FC236}">
                <a16:creationId xmlns:a16="http://schemas.microsoft.com/office/drawing/2014/main" id="{4BF260CE-C6E3-AE7A-DB8E-A72A1CF5B54E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096000" y="4172990"/>
            <a:ext cx="4896677" cy="2309726"/>
          </a:xfrm>
        </p:spPr>
        <p:txBody>
          <a:bodyPr rtlCol="0">
            <a:normAutofit/>
          </a:bodyPr>
          <a:lstStyle>
            <a:lvl1pPr marL="0" indent="0">
              <a:spcBef>
                <a:spcPts val="0"/>
              </a:spcBef>
              <a:spcAft>
                <a:spcPts val="1200"/>
              </a:spcAft>
              <a:buNone/>
              <a:defRPr lang="es-ES" sz="2000">
                <a:solidFill>
                  <a:schemeClr val="bg1"/>
                </a:solidFill>
              </a:defRPr>
            </a:lvl1pPr>
            <a:lvl2pPr marL="742950" indent="-28575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s-ES" sz="1800">
                <a:solidFill>
                  <a:schemeClr val="bg1"/>
                </a:solidFill>
              </a:defRPr>
            </a:lvl2pPr>
            <a:lvl3pPr marL="1200150" indent="-28575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s-ES" sz="1600">
                <a:solidFill>
                  <a:schemeClr val="bg1"/>
                </a:solidFill>
              </a:defRPr>
            </a:lvl3pPr>
            <a:lvl4pPr marL="1657350" indent="-28575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s-ES" sz="1400">
                <a:solidFill>
                  <a:schemeClr val="bg1"/>
                </a:solidFill>
              </a:defRPr>
            </a:lvl4pPr>
            <a:lvl5pPr marL="2114550" indent="-28575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s-ES" sz="14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</p:spTree>
    <p:extLst>
      <p:ext uri="{BB962C8B-B14F-4D97-AF65-F5344CB8AC3E}">
        <p14:creationId xmlns:p14="http://schemas.microsoft.com/office/powerpoint/2010/main" val="2789111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dos contenidos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D6E20435-B9A5-359D-133D-5D3EED409C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955" t="41988" r="53993" b="33420"/>
          <a:stretch/>
        </p:blipFill>
        <p:spPr>
          <a:xfrm rot="10800000">
            <a:off x="9198864" y="-5"/>
            <a:ext cx="2993136" cy="1517907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7B99CAE4-AA9B-52BA-7DE8-8245CE705D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5445" t="24819" r="46503"/>
          <a:stretch/>
        </p:blipFill>
        <p:spPr>
          <a:xfrm rot="16200000">
            <a:off x="961221" y="4525179"/>
            <a:ext cx="1371600" cy="3294042"/>
          </a:xfrm>
          <a:prstGeom prst="rect">
            <a:avLst/>
          </a:prstGeom>
        </p:spPr>
      </p:pic>
      <p:sp>
        <p:nvSpPr>
          <p:cNvPr id="10" name="Título 9">
            <a:extLst>
              <a:ext uri="{FF2B5EF4-FFF2-40B4-BE49-F238E27FC236}">
                <a16:creationId xmlns:a16="http://schemas.microsoft.com/office/drawing/2014/main" id="{28DFE681-710B-6FE5-B8E0-3BC9DB9F12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399" y="365125"/>
            <a:ext cx="10363201" cy="1629601"/>
          </a:xfrm>
        </p:spPr>
        <p:txBody>
          <a:bodyPr rtlCol="0">
            <a:normAutofit/>
          </a:bodyPr>
          <a:lstStyle>
            <a:lvl1pPr>
              <a:defRPr lang="es-ES" sz="3200"/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11" name="Marcador de contenido 10">
            <a:extLst>
              <a:ext uri="{FF2B5EF4-FFF2-40B4-BE49-F238E27FC236}">
                <a16:creationId xmlns:a16="http://schemas.microsoft.com/office/drawing/2014/main" id="{3FE383D3-6A16-1891-FF52-470B26B94042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4992709" cy="3747180"/>
          </a:xfrm>
        </p:spPr>
        <p:txBody>
          <a:bodyPr rtlCol="0"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lang="es-ES" sz="2000"/>
            </a:lvl1pPr>
            <a:lvl2pPr>
              <a:spcBef>
                <a:spcPts val="0"/>
              </a:spcBef>
              <a:spcAft>
                <a:spcPts val="1200"/>
              </a:spcAft>
              <a:defRPr lang="es-ES" sz="1800"/>
            </a:lvl2pPr>
            <a:lvl3pPr>
              <a:spcBef>
                <a:spcPts val="0"/>
              </a:spcBef>
              <a:spcAft>
                <a:spcPts val="1200"/>
              </a:spcAft>
              <a:defRPr lang="es-ES" sz="1600"/>
            </a:lvl3pPr>
            <a:lvl4pPr>
              <a:spcBef>
                <a:spcPts val="0"/>
              </a:spcBef>
              <a:spcAft>
                <a:spcPts val="1200"/>
              </a:spcAft>
              <a:defRPr lang="es-ES" sz="1400"/>
            </a:lvl4pPr>
            <a:lvl5pPr>
              <a:spcBef>
                <a:spcPts val="0"/>
              </a:spcBef>
              <a:spcAft>
                <a:spcPts val="1200"/>
              </a:spcAft>
              <a:defRPr lang="es-ES" sz="1400"/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12" name="Marcador de contenido 10">
            <a:extLst>
              <a:ext uri="{FF2B5EF4-FFF2-40B4-BE49-F238E27FC236}">
                <a16:creationId xmlns:a16="http://schemas.microsoft.com/office/drawing/2014/main" id="{74B5EB04-CA6E-7417-56DF-A55B21E94B7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84891" y="2022250"/>
            <a:ext cx="4992709" cy="3747180"/>
          </a:xfrm>
        </p:spPr>
        <p:txBody>
          <a:bodyPr rtlCol="0"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lang="es-ES" sz="2000"/>
            </a:lvl1pPr>
            <a:lvl2pPr>
              <a:spcBef>
                <a:spcPts val="0"/>
              </a:spcBef>
              <a:spcAft>
                <a:spcPts val="1200"/>
              </a:spcAft>
              <a:defRPr lang="es-ES" sz="1800"/>
            </a:lvl2pPr>
            <a:lvl3pPr>
              <a:spcBef>
                <a:spcPts val="0"/>
              </a:spcBef>
              <a:spcAft>
                <a:spcPts val="1200"/>
              </a:spcAft>
              <a:defRPr lang="es-ES" sz="1600"/>
            </a:lvl3pPr>
            <a:lvl4pPr>
              <a:spcBef>
                <a:spcPts val="0"/>
              </a:spcBef>
              <a:spcAft>
                <a:spcPts val="1200"/>
              </a:spcAft>
              <a:defRPr lang="es-ES" sz="1400"/>
            </a:lvl4pPr>
            <a:lvl5pPr>
              <a:spcBef>
                <a:spcPts val="0"/>
              </a:spcBef>
              <a:spcAft>
                <a:spcPts val="1200"/>
              </a:spcAft>
              <a:defRPr lang="es-ES" sz="1400"/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5" name="Marcador de número de diapositiva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s-ES" sz="1200">
                <a:solidFill>
                  <a:schemeClr val="tx1"/>
                </a:solidFill>
              </a:defRPr>
            </a:lvl1pPr>
          </a:lstStyle>
          <a:p>
            <a:pPr rtl="0"/>
            <a:fld id="{B5CEABB6-07DC-46E8-9B57-56EC44A396E5}" type="slidenum">
              <a:rPr lang="es-ES" smtClean="0"/>
              <a:pPr rtl="0"/>
              <a:t>‹#›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4177926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dos contenido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A783FA55-EF1D-66CF-8FD5-29086D71E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981" t="40714" r="61027" b="44471"/>
          <a:stretch/>
        </p:blipFill>
        <p:spPr>
          <a:xfrm rot="10800000" flipV="1">
            <a:off x="-26830" y="5950040"/>
            <a:ext cx="2513521" cy="9144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542CEFED-8DE0-0155-A5B6-A44051A6D0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8883" t="18052" r="46636"/>
          <a:stretch/>
        </p:blipFill>
        <p:spPr>
          <a:xfrm rot="16200000" flipH="1" flipV="1">
            <a:off x="9553763" y="-952310"/>
            <a:ext cx="1685928" cy="3590547"/>
          </a:xfrm>
          <a:prstGeom prst="rect">
            <a:avLst/>
          </a:prstGeom>
        </p:spPr>
      </p:pic>
      <p:sp>
        <p:nvSpPr>
          <p:cNvPr id="10" name="Título 9">
            <a:extLst>
              <a:ext uri="{FF2B5EF4-FFF2-40B4-BE49-F238E27FC236}">
                <a16:creationId xmlns:a16="http://schemas.microsoft.com/office/drawing/2014/main" id="{57FC493E-284F-ADBA-D92D-883CAB13AD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398" y="365125"/>
            <a:ext cx="10439401" cy="1617017"/>
          </a:xfrm>
        </p:spPr>
        <p:txBody>
          <a:bodyPr rtlCol="0">
            <a:normAutofit/>
          </a:bodyPr>
          <a:lstStyle>
            <a:lvl1pPr>
              <a:defRPr lang="es-ES" sz="3200"/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11" name="Marcador de contenido 10">
            <a:extLst>
              <a:ext uri="{FF2B5EF4-FFF2-40B4-BE49-F238E27FC236}">
                <a16:creationId xmlns:a16="http://schemas.microsoft.com/office/drawing/2014/main" id="{4B8B2035-4AA9-D25E-9F15-3ED36F734D1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3310129" cy="3747180"/>
          </a:xfrm>
        </p:spPr>
        <p:txBody>
          <a:bodyPr rtlCol="0"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lang="es-ES" sz="2000" b="1"/>
            </a:lvl1pPr>
            <a:lvl2pPr>
              <a:spcBef>
                <a:spcPts val="0"/>
              </a:spcBef>
              <a:spcAft>
                <a:spcPts val="1200"/>
              </a:spcAft>
              <a:defRPr lang="es-ES" sz="1800" b="1"/>
            </a:lvl2pPr>
            <a:lvl3pPr>
              <a:spcBef>
                <a:spcPts val="0"/>
              </a:spcBef>
              <a:spcAft>
                <a:spcPts val="1200"/>
              </a:spcAft>
              <a:defRPr lang="es-ES" sz="1600" b="1"/>
            </a:lvl3pPr>
            <a:lvl4pPr>
              <a:spcBef>
                <a:spcPts val="0"/>
              </a:spcBef>
              <a:spcAft>
                <a:spcPts val="1200"/>
              </a:spcAft>
              <a:defRPr lang="es-ES" sz="1400" b="1"/>
            </a:lvl4pPr>
            <a:lvl5pPr>
              <a:spcBef>
                <a:spcPts val="0"/>
              </a:spcBef>
              <a:spcAft>
                <a:spcPts val="1200"/>
              </a:spcAft>
              <a:defRPr lang="es-ES" sz="1400" b="1"/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12" name="Marcador de contenido 10">
            <a:extLst>
              <a:ext uri="{FF2B5EF4-FFF2-40B4-BE49-F238E27FC236}">
                <a16:creationId xmlns:a16="http://schemas.microsoft.com/office/drawing/2014/main" id="{6A694422-6B3E-3D80-AC41-FD1CED52ACA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602310" y="2018120"/>
            <a:ext cx="6751489" cy="3747180"/>
          </a:xfrm>
        </p:spPr>
        <p:txBody>
          <a:bodyPr rtlCol="0"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lang="es-ES" sz="2000"/>
            </a:lvl1pPr>
            <a:lvl2pPr>
              <a:spcBef>
                <a:spcPts val="0"/>
              </a:spcBef>
              <a:spcAft>
                <a:spcPts val="1200"/>
              </a:spcAft>
              <a:defRPr lang="es-ES" sz="1800"/>
            </a:lvl2pPr>
            <a:lvl3pPr>
              <a:spcBef>
                <a:spcPts val="0"/>
              </a:spcBef>
              <a:spcAft>
                <a:spcPts val="1200"/>
              </a:spcAft>
              <a:defRPr lang="es-ES" sz="1600"/>
            </a:lvl3pPr>
            <a:lvl4pPr>
              <a:spcBef>
                <a:spcPts val="0"/>
              </a:spcBef>
              <a:spcAft>
                <a:spcPts val="1200"/>
              </a:spcAft>
              <a:defRPr lang="es-ES" sz="1400"/>
            </a:lvl4pPr>
            <a:lvl5pPr>
              <a:spcBef>
                <a:spcPts val="0"/>
              </a:spcBef>
              <a:spcAft>
                <a:spcPts val="1200"/>
              </a:spcAft>
              <a:defRPr lang="es-ES" sz="1400"/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5" name="Marcador de número de diapositiva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s-ES" sz="1200">
                <a:solidFill>
                  <a:schemeClr val="tx1"/>
                </a:solidFill>
              </a:defRPr>
            </a:lvl1pPr>
          </a:lstStyle>
          <a:p>
            <a:pPr rtl="0"/>
            <a:fld id="{B5CEABB6-07DC-46E8-9B57-56EC44A396E5}" type="slidenum">
              <a:rPr lang="es-ES" smtClean="0"/>
              <a:pPr rtl="0"/>
              <a:t>‹#›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7828138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, contenido e imagen a la derecha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48DBD2A1-633E-7A22-751B-5CEFCA93F2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7703" t="485" b="67543"/>
          <a:stretch/>
        </p:blipFill>
        <p:spPr>
          <a:xfrm rot="5400000">
            <a:off x="-115162" y="115164"/>
            <a:ext cx="1895058" cy="1664735"/>
          </a:xfrm>
          <a:prstGeom prst="rect">
            <a:avLst/>
          </a:prstGeom>
        </p:spPr>
      </p:pic>
      <p:sp>
        <p:nvSpPr>
          <p:cNvPr id="9" name="Título 8">
            <a:extLst>
              <a:ext uri="{FF2B5EF4-FFF2-40B4-BE49-F238E27FC236}">
                <a16:creationId xmlns:a16="http://schemas.microsoft.com/office/drawing/2014/main" id="{3E7BF4D0-D641-9859-157D-B9094EF3DA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6385" y="446313"/>
            <a:ext cx="5179615" cy="1448747"/>
          </a:xfrm>
        </p:spPr>
        <p:txBody>
          <a:bodyPr rtlCol="0">
            <a:normAutofit/>
          </a:bodyPr>
          <a:lstStyle>
            <a:lvl1pPr>
              <a:defRPr lang="es-ES" sz="3200"/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10" name="Marcador de contenido 10">
            <a:extLst>
              <a:ext uri="{FF2B5EF4-FFF2-40B4-BE49-F238E27FC236}">
                <a16:creationId xmlns:a16="http://schemas.microsoft.com/office/drawing/2014/main" id="{115AE488-757F-4C5A-7733-85C1D1EA98D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5181600" cy="3747180"/>
          </a:xfrm>
        </p:spPr>
        <p:txBody>
          <a:bodyPr rtlCol="0"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lang="es-ES" sz="2000" b="0"/>
            </a:lvl1pPr>
            <a:lvl2pPr>
              <a:spcBef>
                <a:spcPts val="0"/>
              </a:spcBef>
              <a:spcAft>
                <a:spcPts val="1200"/>
              </a:spcAft>
              <a:defRPr lang="es-ES" sz="1800" b="0"/>
            </a:lvl2pPr>
            <a:lvl3pPr>
              <a:spcBef>
                <a:spcPts val="0"/>
              </a:spcBef>
              <a:spcAft>
                <a:spcPts val="1200"/>
              </a:spcAft>
              <a:defRPr lang="es-ES" sz="1600" b="0"/>
            </a:lvl3pPr>
            <a:lvl4pPr>
              <a:spcBef>
                <a:spcPts val="0"/>
              </a:spcBef>
              <a:spcAft>
                <a:spcPts val="1200"/>
              </a:spcAft>
              <a:defRPr lang="es-ES" sz="1400" b="0"/>
            </a:lvl4pPr>
            <a:lvl5pPr>
              <a:spcBef>
                <a:spcPts val="0"/>
              </a:spcBef>
              <a:spcAft>
                <a:spcPts val="1200"/>
              </a:spcAft>
              <a:defRPr lang="es-ES" sz="1400" b="0"/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5" name="Marcador de número de diapositiva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s-ES" sz="1200">
                <a:solidFill>
                  <a:schemeClr val="tx1"/>
                </a:solidFill>
              </a:defRPr>
            </a:lvl1pPr>
          </a:lstStyle>
          <a:p>
            <a:pPr rtl="0"/>
            <a:fld id="{B5CEABB6-07DC-46E8-9B57-56EC44A396E5}" type="slidenum">
              <a:rPr lang="es-ES" smtClean="0"/>
              <a:pPr rtl="0"/>
              <a:t>‹#›</a:t>
            </a:fld>
            <a:endParaRPr lang="es-ES" dirty="0"/>
          </a:p>
        </p:txBody>
      </p:sp>
      <p:sp>
        <p:nvSpPr>
          <p:cNvPr id="12" name="Marcador de posición de imagen 11">
            <a:extLst>
              <a:ext uri="{FF2B5EF4-FFF2-40B4-BE49-F238E27FC236}">
                <a16:creationId xmlns:a16="http://schemas.microsoft.com/office/drawing/2014/main" id="{39DD264F-42B5-DBB0-9839-DB4C6827ED7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76950" y="0"/>
            <a:ext cx="6115050" cy="6868886"/>
          </a:xfrm>
          <a:custGeom>
            <a:avLst/>
            <a:gdLst>
              <a:gd name="connsiteX0" fmla="*/ 0 w 6115050"/>
              <a:gd name="connsiteY0" fmla="*/ 0 h 6858000"/>
              <a:gd name="connsiteX1" fmla="*/ 6115050 w 6115050"/>
              <a:gd name="connsiteY1" fmla="*/ 0 h 6858000"/>
              <a:gd name="connsiteX2" fmla="*/ 6115050 w 6115050"/>
              <a:gd name="connsiteY2" fmla="*/ 6858000 h 6858000"/>
              <a:gd name="connsiteX3" fmla="*/ 0 w 6115050"/>
              <a:gd name="connsiteY3" fmla="*/ 6858000 h 6858000"/>
              <a:gd name="connsiteX4" fmla="*/ 0 w 6115050"/>
              <a:gd name="connsiteY4" fmla="*/ 0 h 6858000"/>
              <a:gd name="connsiteX0" fmla="*/ 2024742 w 6115050"/>
              <a:gd name="connsiteY0" fmla="*/ 0 h 6858000"/>
              <a:gd name="connsiteX1" fmla="*/ 6115050 w 6115050"/>
              <a:gd name="connsiteY1" fmla="*/ 0 h 6858000"/>
              <a:gd name="connsiteX2" fmla="*/ 6115050 w 6115050"/>
              <a:gd name="connsiteY2" fmla="*/ 6858000 h 6858000"/>
              <a:gd name="connsiteX3" fmla="*/ 0 w 6115050"/>
              <a:gd name="connsiteY3" fmla="*/ 6858000 h 6858000"/>
              <a:gd name="connsiteX4" fmla="*/ 2024742 w 6115050"/>
              <a:gd name="connsiteY4" fmla="*/ 0 h 6858000"/>
              <a:gd name="connsiteX0" fmla="*/ 2024742 w 6115050"/>
              <a:gd name="connsiteY0" fmla="*/ 0 h 6858000"/>
              <a:gd name="connsiteX1" fmla="*/ 6115050 w 6115050"/>
              <a:gd name="connsiteY1" fmla="*/ 0 h 6858000"/>
              <a:gd name="connsiteX2" fmla="*/ 6115050 w 6115050"/>
              <a:gd name="connsiteY2" fmla="*/ 3603171 h 6858000"/>
              <a:gd name="connsiteX3" fmla="*/ 6115050 w 6115050"/>
              <a:gd name="connsiteY3" fmla="*/ 6858000 h 6858000"/>
              <a:gd name="connsiteX4" fmla="*/ 0 w 6115050"/>
              <a:gd name="connsiteY4" fmla="*/ 6858000 h 6858000"/>
              <a:gd name="connsiteX5" fmla="*/ 2024742 w 6115050"/>
              <a:gd name="connsiteY5" fmla="*/ 0 h 6858000"/>
              <a:gd name="connsiteX0" fmla="*/ 2024742 w 6115050"/>
              <a:gd name="connsiteY0" fmla="*/ 0 h 6868886"/>
              <a:gd name="connsiteX1" fmla="*/ 6115050 w 6115050"/>
              <a:gd name="connsiteY1" fmla="*/ 0 h 6868886"/>
              <a:gd name="connsiteX2" fmla="*/ 6115050 w 6115050"/>
              <a:gd name="connsiteY2" fmla="*/ 3603171 h 6868886"/>
              <a:gd name="connsiteX3" fmla="*/ 5157107 w 6115050"/>
              <a:gd name="connsiteY3" fmla="*/ 6868886 h 6868886"/>
              <a:gd name="connsiteX4" fmla="*/ 0 w 6115050"/>
              <a:gd name="connsiteY4" fmla="*/ 6858000 h 6868886"/>
              <a:gd name="connsiteX5" fmla="*/ 2024742 w 6115050"/>
              <a:gd name="connsiteY5" fmla="*/ 0 h 68688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115050" h="6868886">
                <a:moveTo>
                  <a:pt x="2024742" y="0"/>
                </a:moveTo>
                <a:lnTo>
                  <a:pt x="6115050" y="0"/>
                </a:lnTo>
                <a:lnTo>
                  <a:pt x="6115050" y="3603171"/>
                </a:lnTo>
                <a:lnTo>
                  <a:pt x="5157107" y="6868886"/>
                </a:lnTo>
                <a:lnTo>
                  <a:pt x="0" y="6858000"/>
                </a:lnTo>
                <a:lnTo>
                  <a:pt x="2024742" y="0"/>
                </a:lnTo>
                <a:close/>
              </a:path>
            </a:pathLst>
          </a:custGeom>
        </p:spPr>
        <p:txBody>
          <a:bodyPr rtlCol="0">
            <a:normAutofit/>
          </a:bodyPr>
          <a:lstStyle>
            <a:lvl1pPr marL="0" indent="0" algn="r">
              <a:buNone/>
              <a:defRPr lang="es-ES" sz="2000"/>
            </a:lvl1pPr>
          </a:lstStyle>
          <a:p>
            <a:pPr rtl="0"/>
            <a:r>
              <a:rPr lang="en-US"/>
              <a:t>Click icon to add picture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670084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ido y tabla del títul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áfico 1">
            <a:extLst>
              <a:ext uri="{FF2B5EF4-FFF2-40B4-BE49-F238E27FC236}">
                <a16:creationId xmlns:a16="http://schemas.microsoft.com/office/drawing/2014/main" id="{BE5D17C7-3503-7305-8191-20863B738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55824" b="26760"/>
          <a:stretch/>
        </p:blipFill>
        <p:spPr>
          <a:xfrm>
            <a:off x="9229725" y="1835240"/>
            <a:ext cx="2962275" cy="5022760"/>
          </a:xfrm>
          <a:prstGeom prst="rect">
            <a:avLst/>
          </a:prstGeom>
        </p:spPr>
      </p:pic>
      <p:sp>
        <p:nvSpPr>
          <p:cNvPr id="14" name="Rectángulo 13">
            <a:extLst>
              <a:ext uri="{FF2B5EF4-FFF2-40B4-BE49-F238E27FC236}">
                <a16:creationId xmlns:a16="http://schemas.microsoft.com/office/drawing/2014/main" id="{C76E1AE6-3E01-1CBD-CAEC-11056D00AD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43413" y="1835240"/>
            <a:ext cx="7000875" cy="42798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/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90E28F03-2149-7C50-779B-6A2D8D789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60903" r="75060" b="10347"/>
          <a:stretch/>
        </p:blipFill>
        <p:spPr>
          <a:xfrm rot="16200000">
            <a:off x="149650" y="-149653"/>
            <a:ext cx="1672375" cy="1971675"/>
          </a:xfrm>
          <a:prstGeom prst="rect">
            <a:avLst/>
          </a:prstGeom>
        </p:spPr>
      </p:pic>
      <p:sp>
        <p:nvSpPr>
          <p:cNvPr id="10" name="Título 9">
            <a:extLst>
              <a:ext uri="{FF2B5EF4-FFF2-40B4-BE49-F238E27FC236}">
                <a16:creationId xmlns:a16="http://schemas.microsoft.com/office/drawing/2014/main" id="{CA4CAE4E-4252-8471-C50B-1DD5AFBFEC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399" y="365125"/>
            <a:ext cx="10363202" cy="1603462"/>
          </a:xfrm>
        </p:spPr>
        <p:txBody>
          <a:bodyPr rtlCol="0">
            <a:normAutofit/>
          </a:bodyPr>
          <a:lstStyle>
            <a:lvl1pPr>
              <a:defRPr lang="es-ES" sz="3200"/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11" name="Marcador de contenido 10">
            <a:extLst>
              <a:ext uri="{FF2B5EF4-FFF2-40B4-BE49-F238E27FC236}">
                <a16:creationId xmlns:a16="http://schemas.microsoft.com/office/drawing/2014/main" id="{E493CE42-5465-91AC-A1F4-A4821AE37A9C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3299013" cy="3914910"/>
          </a:xfrm>
        </p:spPr>
        <p:txBody>
          <a:bodyPr rtlCol="0"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lang="es-ES" sz="2000" b="0"/>
            </a:lvl1pPr>
            <a:lvl2pPr>
              <a:spcBef>
                <a:spcPts val="0"/>
              </a:spcBef>
              <a:spcAft>
                <a:spcPts val="1200"/>
              </a:spcAft>
              <a:defRPr lang="es-ES" sz="1800" b="0"/>
            </a:lvl2pPr>
            <a:lvl3pPr>
              <a:spcBef>
                <a:spcPts val="0"/>
              </a:spcBef>
              <a:spcAft>
                <a:spcPts val="1200"/>
              </a:spcAft>
              <a:defRPr lang="es-ES" sz="1600" b="0"/>
            </a:lvl3pPr>
            <a:lvl4pPr>
              <a:spcBef>
                <a:spcPts val="0"/>
              </a:spcBef>
              <a:spcAft>
                <a:spcPts val="1200"/>
              </a:spcAft>
              <a:defRPr lang="es-ES" sz="1400" b="0"/>
            </a:lvl4pPr>
            <a:lvl5pPr>
              <a:spcBef>
                <a:spcPts val="0"/>
              </a:spcBef>
              <a:spcAft>
                <a:spcPts val="1200"/>
              </a:spcAft>
              <a:defRPr lang="es-ES" sz="1400" b="0"/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13" name="Marcador de posición de título 12">
            <a:extLst>
              <a:ext uri="{FF2B5EF4-FFF2-40B4-BE49-F238E27FC236}">
                <a16:creationId xmlns:a16="http://schemas.microsoft.com/office/drawing/2014/main" id="{156A00B1-F3E3-B7FF-58F4-61DE3EF07C07}"/>
              </a:ext>
            </a:extLst>
          </p:cNvPr>
          <p:cNvSpPr>
            <a:spLocks noGrp="1"/>
          </p:cNvSpPr>
          <p:nvPr>
            <p:ph type="tbl" sz="quarter" idx="11" hasCustomPrompt="1"/>
          </p:nvPr>
        </p:nvSpPr>
        <p:spPr>
          <a:xfrm>
            <a:off x="4602163" y="2017713"/>
            <a:ext cx="6675437" cy="3932237"/>
          </a:xfrm>
        </p:spPr>
        <p:txBody>
          <a:bodyPr rtlCol="0">
            <a:normAutofit/>
          </a:bodyPr>
          <a:lstStyle>
            <a:lvl1pPr>
              <a:defRPr lang="es-ES" sz="2000"/>
            </a:lvl1pPr>
          </a:lstStyle>
          <a:p>
            <a:pPr rtl="0"/>
            <a:r>
              <a:rPr lang="es-ES"/>
              <a:t>Haga clic en el icono para insertar una tabla</a:t>
            </a:r>
          </a:p>
        </p:txBody>
      </p:sp>
      <p:sp>
        <p:nvSpPr>
          <p:cNvPr id="5" name="Marcador de número de diapositiva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s-ES" sz="1200">
                <a:solidFill>
                  <a:schemeClr val="tx1"/>
                </a:solidFill>
              </a:defRPr>
            </a:lvl1pPr>
          </a:lstStyle>
          <a:p>
            <a:pPr rtl="0"/>
            <a:fld id="{B5CEABB6-07DC-46E8-9B57-56EC44A396E5}" type="slidenum">
              <a:rPr lang="es-ES" smtClean="0"/>
              <a:pPr rtl="0"/>
              <a:t>‹#›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0562149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dos contenidos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13A42171-0D82-07BF-4667-498861CC2A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8883" t="34408" r="46636" b="1"/>
          <a:stretch/>
        </p:blipFill>
        <p:spPr>
          <a:xfrm flipH="1" flipV="1">
            <a:off x="10506072" y="3984078"/>
            <a:ext cx="1685928" cy="2873921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3C71A0D-EE6D-54C4-71DE-04BE285580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718" t="47145" r="39389" b="8754"/>
          <a:stretch/>
        </p:blipFill>
        <p:spPr>
          <a:xfrm rot="5400000" flipV="1">
            <a:off x="9781526" y="-311511"/>
            <a:ext cx="2098964" cy="2721985"/>
          </a:xfrm>
          <a:prstGeom prst="rect">
            <a:avLst/>
          </a:prstGeom>
        </p:spPr>
      </p:pic>
      <p:sp>
        <p:nvSpPr>
          <p:cNvPr id="10" name="Título 9">
            <a:extLst>
              <a:ext uri="{FF2B5EF4-FFF2-40B4-BE49-F238E27FC236}">
                <a16:creationId xmlns:a16="http://schemas.microsoft.com/office/drawing/2014/main" id="{3F82FA92-501B-5A05-E15F-2FB9BCEBE3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1990" y="434225"/>
            <a:ext cx="9524998" cy="1499627"/>
          </a:xfrm>
        </p:spPr>
        <p:txBody>
          <a:bodyPr rtlCol="0">
            <a:normAutofit/>
          </a:bodyPr>
          <a:lstStyle>
            <a:lvl1pPr>
              <a:defRPr lang="es-ES" sz="3200"/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11" name="Marcador de contenido 10">
            <a:extLst>
              <a:ext uri="{FF2B5EF4-FFF2-40B4-BE49-F238E27FC236}">
                <a16:creationId xmlns:a16="http://schemas.microsoft.com/office/drawing/2014/main" id="{B463EEE0-BE31-122C-586C-8BA8D90371E6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6257366" cy="3914910"/>
          </a:xfrm>
        </p:spPr>
        <p:txBody>
          <a:bodyPr rtlCol="0">
            <a:normAutofit/>
          </a:bodyPr>
          <a:lstStyle>
            <a:lvl1pPr marL="0" indent="0">
              <a:spcBef>
                <a:spcPts val="0"/>
              </a:spcBef>
              <a:spcAft>
                <a:spcPts val="1200"/>
              </a:spcAft>
              <a:buNone/>
              <a:defRPr lang="es-ES" sz="2000" b="0"/>
            </a:lvl1pPr>
            <a:lvl2pPr marL="228600">
              <a:spcBef>
                <a:spcPts val="0"/>
              </a:spcBef>
              <a:spcAft>
                <a:spcPts val="1200"/>
              </a:spcAft>
              <a:defRPr lang="es-ES" sz="2000" b="0"/>
            </a:lvl2pPr>
            <a:lvl3pPr marL="685800">
              <a:spcBef>
                <a:spcPts val="0"/>
              </a:spcBef>
              <a:spcAft>
                <a:spcPts val="1200"/>
              </a:spcAft>
              <a:defRPr lang="es-ES" sz="1800" b="0"/>
            </a:lvl3pPr>
            <a:lvl4pPr marL="914400">
              <a:spcBef>
                <a:spcPts val="0"/>
              </a:spcBef>
              <a:spcAft>
                <a:spcPts val="1200"/>
              </a:spcAft>
              <a:defRPr lang="es-ES" sz="1600" b="0"/>
            </a:lvl4pPr>
            <a:lvl5pPr marL="1143000">
              <a:spcBef>
                <a:spcPts val="0"/>
              </a:spcBef>
              <a:spcAft>
                <a:spcPts val="1200"/>
              </a:spcAft>
              <a:defRPr lang="es-ES" sz="1600" b="0"/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12" name="Marcador de contenido 10">
            <a:extLst>
              <a:ext uri="{FF2B5EF4-FFF2-40B4-BE49-F238E27FC236}">
                <a16:creationId xmlns:a16="http://schemas.microsoft.com/office/drawing/2014/main" id="{52C157D5-2C68-BA6A-033B-A4CC016CA68F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7967475" y="2018119"/>
            <a:ext cx="2449514" cy="3931919"/>
          </a:xfrm>
        </p:spPr>
        <p:txBody>
          <a:bodyPr rtlCol="0"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lang="es-ES" sz="2000" b="1"/>
            </a:lvl1pPr>
            <a:lvl2pPr marL="411480">
              <a:spcBef>
                <a:spcPts val="0"/>
              </a:spcBef>
              <a:spcAft>
                <a:spcPts val="1200"/>
              </a:spcAft>
              <a:defRPr lang="es-ES" sz="1800" b="1"/>
            </a:lvl2pPr>
            <a:lvl3pPr marL="502920">
              <a:spcBef>
                <a:spcPts val="0"/>
              </a:spcBef>
              <a:spcAft>
                <a:spcPts val="1200"/>
              </a:spcAft>
              <a:defRPr lang="es-ES" sz="1600" b="1"/>
            </a:lvl3pPr>
            <a:lvl4pPr marL="594360">
              <a:spcBef>
                <a:spcPts val="0"/>
              </a:spcBef>
              <a:spcAft>
                <a:spcPts val="1200"/>
              </a:spcAft>
              <a:defRPr lang="es-ES" sz="1400" b="1"/>
            </a:lvl4pPr>
            <a:lvl5pPr marL="685800">
              <a:spcBef>
                <a:spcPts val="0"/>
              </a:spcBef>
              <a:spcAft>
                <a:spcPts val="1200"/>
              </a:spcAft>
              <a:defRPr lang="es-ES" sz="1400" b="1"/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5" name="Marcador de número de diapositiva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s-ES" sz="1200">
                <a:solidFill>
                  <a:schemeClr val="tx1"/>
                </a:solidFill>
              </a:defRPr>
            </a:lvl1pPr>
          </a:lstStyle>
          <a:p>
            <a:pPr rtl="0"/>
            <a:fld id="{B5CEABB6-07DC-46E8-9B57-56EC44A396E5}" type="slidenum">
              <a:rPr lang="es-ES" smtClean="0"/>
              <a:pPr rtl="0"/>
              <a:t>‹#›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198423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s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15CC9A46-E0E7-B31D-3E27-6F4303A45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8883" t="18052" r="46636"/>
          <a:stretch/>
        </p:blipFill>
        <p:spPr>
          <a:xfrm rot="16200000" flipH="1" flipV="1">
            <a:off x="9553763" y="-952310"/>
            <a:ext cx="1685928" cy="3590547"/>
          </a:xfrm>
          <a:prstGeom prst="rect">
            <a:avLst/>
          </a:prstGeom>
        </p:spPr>
      </p:pic>
      <p:sp>
        <p:nvSpPr>
          <p:cNvPr id="7" name="Título 6">
            <a:extLst>
              <a:ext uri="{FF2B5EF4-FFF2-40B4-BE49-F238E27FC236}">
                <a16:creationId xmlns:a16="http://schemas.microsoft.com/office/drawing/2014/main" id="{767669DC-4C7F-9B50-FCC0-F2AF5B2A95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23545" y="584477"/>
            <a:ext cx="10354052" cy="1209765"/>
          </a:xfrm>
        </p:spPr>
        <p:txBody>
          <a:bodyPr rtlCol="0">
            <a:normAutofit/>
          </a:bodyPr>
          <a:lstStyle>
            <a:lvl1pPr>
              <a:defRPr lang="es-ES" sz="3200"/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9" name="Marcador de posición de tabla 8">
            <a:extLst>
              <a:ext uri="{FF2B5EF4-FFF2-40B4-BE49-F238E27FC236}">
                <a16:creationId xmlns:a16="http://schemas.microsoft.com/office/drawing/2014/main" id="{BEF581C2-7562-2E21-E6DD-20AEFC43AABC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923545" y="2009775"/>
            <a:ext cx="10354052" cy="3931920"/>
          </a:xfrm>
        </p:spPr>
        <p:txBody>
          <a:bodyPr rtlCol="0">
            <a:normAutofit/>
          </a:bodyPr>
          <a:lstStyle>
            <a:lvl1pPr>
              <a:defRPr lang="es-ES" sz="2400"/>
            </a:lvl1pPr>
          </a:lstStyle>
          <a:p>
            <a:pPr rtl="0"/>
            <a:r>
              <a:rPr lang="en-US"/>
              <a:t>Click icon to add table</a:t>
            </a:r>
            <a:endParaRPr lang="es-ES"/>
          </a:p>
        </p:txBody>
      </p:sp>
      <p:sp>
        <p:nvSpPr>
          <p:cNvPr id="5" name="Marcador de número de diapositiva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s-ES" sz="1200">
                <a:solidFill>
                  <a:schemeClr val="tx1"/>
                </a:solidFill>
              </a:defRPr>
            </a:lvl1pPr>
          </a:lstStyle>
          <a:p>
            <a:pPr rtl="0"/>
            <a:fld id="{B5CEABB6-07DC-46E8-9B57-56EC44A396E5}" type="slidenum">
              <a:rPr lang="es-ES" smtClean="0"/>
              <a:pPr rtl="0"/>
              <a:t>‹#›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163842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6">
            <a:extLst>
              <a:ext uri="{FF2B5EF4-FFF2-40B4-BE49-F238E27FC236}">
                <a16:creationId xmlns:a16="http://schemas.microsoft.com/office/drawing/2014/main" id="{E3A3E8B6-2BD8-19E0-7F51-7A25EF836F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1515" y="374090"/>
            <a:ext cx="5057104" cy="3624984"/>
          </a:xfrm>
        </p:spPr>
        <p:txBody>
          <a:bodyPr rtlCol="0" anchor="b">
            <a:normAutofit/>
          </a:bodyPr>
          <a:lstStyle>
            <a:lvl1pPr>
              <a:defRPr lang="es-ES" sz="4800">
                <a:solidFill>
                  <a:schemeClr val="bg1"/>
                </a:solidFill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B1F96043-F6A4-F581-7DB8-96138F0E401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91514" y="4172989"/>
            <a:ext cx="5057103" cy="2519363"/>
          </a:xfrm>
        </p:spPr>
        <p:txBody>
          <a:bodyPr rtlCol="0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lang="es-ES" sz="2000" baseline="0">
                <a:solidFill>
                  <a:schemeClr val="bg1"/>
                </a:solidFill>
              </a:defRPr>
            </a:lvl1pPr>
            <a:lvl2pPr marL="742950" indent="-285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es-ES" sz="1800" baseline="0">
                <a:solidFill>
                  <a:schemeClr val="bg1"/>
                </a:solidFill>
              </a:defRPr>
            </a:lvl2pPr>
            <a:lvl3pPr marL="1200150" indent="-285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es-ES" sz="1600" baseline="0">
                <a:solidFill>
                  <a:schemeClr val="bg1"/>
                </a:solidFill>
              </a:defRPr>
            </a:lvl3pPr>
            <a:lvl4pPr marL="1657350" indent="-285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es-ES" sz="1400" baseline="0">
                <a:solidFill>
                  <a:schemeClr val="bg1"/>
                </a:solidFill>
              </a:defRPr>
            </a:lvl4pPr>
            <a:lvl5pPr marL="2000250" indent="-1714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es-ES" sz="120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/>
              <a:t>Haga clic para agregar contenido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pic>
        <p:nvPicPr>
          <p:cNvPr id="2" name="Gráfico 1">
            <a:extLst>
              <a:ext uri="{FF2B5EF4-FFF2-40B4-BE49-F238E27FC236}">
                <a16:creationId xmlns:a16="http://schemas.microsoft.com/office/drawing/2014/main" id="{C805DE67-EFB0-F6F3-6C08-2FE90284C3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151" r="18577"/>
          <a:stretch/>
        </p:blipFill>
        <p:spPr>
          <a:xfrm flipH="1">
            <a:off x="0" y="0"/>
            <a:ext cx="51816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03470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es-ES"/>
            </a:defPPr>
          </a:lstStyle>
          <a:p>
            <a:pPr rtl="0"/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es-ES"/>
            </a:defPPr>
          </a:lstStyle>
          <a:p>
            <a:pPr lvl="0" rtl="0"/>
            <a:r>
              <a:rPr lang="es-ES"/>
              <a:t>Haga clic para modificar los estilos de texto del patrón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s-ES"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 lang="es-ES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s-ES"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es-ES"/>
              <a:t>Presentación de lanzamiento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s-ES"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B5CEABB6-07DC-46E8-9B57-56EC44A396E5}" type="slidenum">
              <a:rPr lang="es-ES" smtClean="0"/>
              <a:pPr rtl="0"/>
              <a:t>‹#›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928452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08" r:id="rId2"/>
    <p:sldLayoutId id="2147483709" r:id="rId3"/>
    <p:sldLayoutId id="2147483710" r:id="rId4"/>
    <p:sldLayoutId id="2147483711" r:id="rId5"/>
    <p:sldLayoutId id="2147483712" r:id="rId6"/>
    <p:sldLayoutId id="2147483713" r:id="rId7"/>
    <p:sldLayoutId id="2147483714" r:id="rId8"/>
    <p:sldLayoutId id="2147483715" r:id="rId9"/>
    <p:sldLayoutId id="2147483716" r:id="rId10"/>
    <p:sldLayoutId id="2147483717" r:id="rId11"/>
    <p:sldLayoutId id="2147483718" r:id="rId12"/>
    <p:sldLayoutId id="2147483706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s-ES" sz="44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s-ES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uillo-bit/Beletza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3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440D96-BFFB-05BD-30ED-0352500CD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03328"/>
            <a:ext cx="8785113" cy="568363"/>
          </a:xfrm>
        </p:spPr>
        <p:txBody>
          <a:bodyPr rtlCol="0">
            <a:normAutofit/>
          </a:bodyPr>
          <a:lstStyle>
            <a:defPPr>
              <a:defRPr lang="es-ES"/>
            </a:defPPr>
          </a:lstStyle>
          <a:p>
            <a:pPr rtl="0"/>
            <a:r>
              <a:rPr lang="es-ES" sz="3200" dirty="0">
                <a:solidFill>
                  <a:schemeClr val="accent2">
                    <a:lumMod val="50000"/>
                  </a:schemeClr>
                </a:solidFill>
              </a:rPr>
              <a:t>Al rescate de la Línea Joven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FDA2EC-33CE-482B-D74A-F3FCA8268678}"/>
              </a:ext>
            </a:extLst>
          </p:cNvPr>
          <p:cNvSpPr txBox="1"/>
          <p:nvPr/>
        </p:nvSpPr>
        <p:spPr>
          <a:xfrm>
            <a:off x="116541" y="671691"/>
            <a:ext cx="11331388" cy="5693866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s-EC" sz="1600" dirty="0">
                <a:solidFill>
                  <a:schemeClr val="tx1"/>
                </a:solidFill>
              </a:rPr>
              <a:t>Objetivo: Analizar y optimizar el desempeño de la Línea Joven en ventas, web y marketing, mediante un enfoque integrado de Data </a:t>
            </a:r>
            <a:r>
              <a:rPr lang="es-EC" sz="1600" dirty="0" err="1">
                <a:solidFill>
                  <a:schemeClr val="tx1"/>
                </a:solidFill>
              </a:rPr>
              <a:t>Analytics</a:t>
            </a:r>
            <a:r>
              <a:rPr lang="es-EC" sz="1600" dirty="0">
                <a:solidFill>
                  <a:schemeClr val="tx1"/>
                </a:solidFill>
              </a:rPr>
              <a:t> y Modelado Predictivo.</a:t>
            </a:r>
          </a:p>
          <a:p>
            <a:endParaRPr lang="es-EC" sz="1600" dirty="0">
              <a:solidFill>
                <a:schemeClr val="tx1"/>
              </a:solidFill>
            </a:endParaRPr>
          </a:p>
          <a:p>
            <a:r>
              <a:rPr lang="es-EC" sz="1600" dirty="0">
                <a:solidFill>
                  <a:schemeClr val="tx1"/>
                </a:solidFill>
              </a:rPr>
              <a:t>Estrategia general:</a:t>
            </a:r>
          </a:p>
          <a:p>
            <a:r>
              <a:rPr lang="es-EC" sz="1600" dirty="0">
                <a:solidFill>
                  <a:schemeClr val="tx1"/>
                </a:solidFill>
              </a:rPr>
              <a:t>1. Recolección y consolidación de datos:</a:t>
            </a:r>
          </a:p>
          <a:p>
            <a:r>
              <a:rPr lang="es-EC" sz="1600" dirty="0">
                <a:solidFill>
                  <a:schemeClr val="tx1"/>
                </a:solidFill>
              </a:rPr>
              <a:t>   - Ventas: unidades, ingresos, precios.</a:t>
            </a:r>
          </a:p>
          <a:p>
            <a:r>
              <a:rPr lang="es-EC" sz="1600" dirty="0">
                <a:solidFill>
                  <a:schemeClr val="tx1"/>
                </a:solidFill>
              </a:rPr>
              <a:t>   - Web: visitas, tiempo en página, clics, </a:t>
            </a:r>
            <a:r>
              <a:rPr lang="es-EC" sz="1600" dirty="0" err="1">
                <a:solidFill>
                  <a:schemeClr val="tx1"/>
                </a:solidFill>
              </a:rPr>
              <a:t>add-to-cart</a:t>
            </a:r>
            <a:r>
              <a:rPr lang="es-EC" sz="1600" dirty="0">
                <a:solidFill>
                  <a:schemeClr val="tx1"/>
                </a:solidFill>
              </a:rPr>
              <a:t> y compras.</a:t>
            </a:r>
          </a:p>
          <a:p>
            <a:r>
              <a:rPr lang="es-EC" sz="1600" dirty="0">
                <a:solidFill>
                  <a:schemeClr val="tx1"/>
                </a:solidFill>
              </a:rPr>
              <a:t>   - Marketing: inversión, conversiones, CPM, CPC, CTR.</a:t>
            </a:r>
          </a:p>
          <a:p>
            <a:r>
              <a:rPr lang="es-EC" sz="1600" dirty="0">
                <a:solidFill>
                  <a:schemeClr val="tx1"/>
                </a:solidFill>
              </a:rPr>
              <a:t>2. Limpieza y transformación:</a:t>
            </a:r>
          </a:p>
          <a:p>
            <a:r>
              <a:rPr lang="es-EC" sz="1600" dirty="0">
                <a:solidFill>
                  <a:schemeClr val="tx1"/>
                </a:solidFill>
              </a:rPr>
              <a:t>   - Normalización de fechas, identificación de línea joven, cálculo de métricas clave.</a:t>
            </a:r>
          </a:p>
          <a:p>
            <a:r>
              <a:rPr lang="es-EC" sz="1600" dirty="0">
                <a:solidFill>
                  <a:schemeClr val="tx1"/>
                </a:solidFill>
              </a:rPr>
              <a:t>3. Análisis exploratorio de datos (EDA):</a:t>
            </a:r>
          </a:p>
          <a:p>
            <a:r>
              <a:rPr lang="es-EC" sz="1600" dirty="0">
                <a:solidFill>
                  <a:schemeClr val="tx1"/>
                </a:solidFill>
              </a:rPr>
              <a:t>   - Estadísticas descriptivas, gráficos básicos, correlaciones, tendencias mensuales.</a:t>
            </a:r>
          </a:p>
          <a:p>
            <a:r>
              <a:rPr lang="es-EC" sz="1600" dirty="0">
                <a:solidFill>
                  <a:schemeClr val="tx1"/>
                </a:solidFill>
              </a:rPr>
              <a:t>4. Integración de </a:t>
            </a:r>
            <a:r>
              <a:rPr lang="es-EC" sz="1600" dirty="0" err="1">
                <a:solidFill>
                  <a:schemeClr val="tx1"/>
                </a:solidFill>
              </a:rPr>
              <a:t>datasets</a:t>
            </a:r>
            <a:r>
              <a:rPr lang="es-EC" sz="1600" dirty="0">
                <a:solidFill>
                  <a:schemeClr val="tx1"/>
                </a:solidFill>
              </a:rPr>
              <a:t>:</a:t>
            </a:r>
          </a:p>
          <a:p>
            <a:r>
              <a:rPr lang="es-EC" sz="1600" dirty="0">
                <a:solidFill>
                  <a:schemeClr val="tx1"/>
                </a:solidFill>
              </a:rPr>
              <a:t>   - Consolidación mensual de ventas, web y marketing.</a:t>
            </a:r>
          </a:p>
          <a:p>
            <a:r>
              <a:rPr lang="es-EC" sz="1600" dirty="0">
                <a:solidFill>
                  <a:schemeClr val="tx1"/>
                </a:solidFill>
              </a:rPr>
              <a:t>   - Creación de métricas derivadas: ROI marketing, tasas de conversión, precio promedio.</a:t>
            </a:r>
          </a:p>
          <a:p>
            <a:r>
              <a:rPr lang="es-EC" sz="1600" dirty="0">
                <a:solidFill>
                  <a:schemeClr val="tx1"/>
                </a:solidFill>
              </a:rPr>
              <a:t>5. Modelado predictivo:</a:t>
            </a:r>
          </a:p>
          <a:p>
            <a:r>
              <a:rPr lang="es-EC" sz="1600" dirty="0">
                <a:solidFill>
                  <a:schemeClr val="tx1"/>
                </a:solidFill>
              </a:rPr>
              <a:t>   - </a:t>
            </a:r>
            <a:r>
              <a:rPr lang="es-EC" sz="1600" dirty="0" err="1">
                <a:solidFill>
                  <a:schemeClr val="tx1"/>
                </a:solidFill>
              </a:rPr>
              <a:t>RandomForest</a:t>
            </a:r>
            <a:r>
              <a:rPr lang="es-EC" sz="1600" dirty="0">
                <a:solidFill>
                  <a:schemeClr val="tx1"/>
                </a:solidFill>
              </a:rPr>
              <a:t> y </a:t>
            </a:r>
            <a:r>
              <a:rPr lang="es-EC" sz="1600" dirty="0" err="1">
                <a:solidFill>
                  <a:schemeClr val="tx1"/>
                </a:solidFill>
              </a:rPr>
              <a:t>GradientBoosting</a:t>
            </a:r>
            <a:r>
              <a:rPr lang="es-EC" sz="1600" dirty="0">
                <a:solidFill>
                  <a:schemeClr val="tx1"/>
                </a:solidFill>
              </a:rPr>
              <a:t> para identificar factores clave que influyen en ventas.</a:t>
            </a:r>
          </a:p>
          <a:p>
            <a:r>
              <a:rPr lang="es-EC" sz="1600" dirty="0">
                <a:solidFill>
                  <a:schemeClr val="tx1"/>
                </a:solidFill>
              </a:rPr>
              <a:t>6. Generación de reportes y visualizaciones:</a:t>
            </a:r>
          </a:p>
          <a:p>
            <a:r>
              <a:rPr lang="es-EC" sz="1600" dirty="0">
                <a:solidFill>
                  <a:schemeClr val="tx1"/>
                </a:solidFill>
              </a:rPr>
              <a:t>   - Guardado de gráficos por subcarpeta en `</a:t>
            </a:r>
            <a:r>
              <a:rPr lang="es-EC" sz="1600" dirty="0" err="1">
                <a:solidFill>
                  <a:schemeClr val="tx1"/>
                </a:solidFill>
              </a:rPr>
              <a:t>reports</a:t>
            </a:r>
            <a:r>
              <a:rPr lang="es-EC" sz="1600" dirty="0">
                <a:solidFill>
                  <a:schemeClr val="tx1"/>
                </a:solidFill>
              </a:rPr>
              <a:t>/figures/final`.</a:t>
            </a:r>
          </a:p>
          <a:p>
            <a:r>
              <a:rPr lang="es-EC" sz="1600" dirty="0">
                <a:solidFill>
                  <a:schemeClr val="tx1"/>
                </a:solidFill>
              </a:rPr>
              <a:t>   - Guardado de </a:t>
            </a:r>
            <a:r>
              <a:rPr lang="es-EC" sz="1600" dirty="0" err="1">
                <a:solidFill>
                  <a:schemeClr val="tx1"/>
                </a:solidFill>
              </a:rPr>
              <a:t>datasets</a:t>
            </a:r>
            <a:r>
              <a:rPr lang="es-EC" sz="1600" dirty="0">
                <a:solidFill>
                  <a:schemeClr val="tx1"/>
                </a:solidFill>
              </a:rPr>
              <a:t> finales en `data/final`.</a:t>
            </a:r>
          </a:p>
          <a:p>
            <a:r>
              <a:rPr lang="es-EC" sz="1600" dirty="0">
                <a:solidFill>
                  <a:schemeClr val="tx1"/>
                </a:solidFill>
              </a:rPr>
              <a:t>7. Resumen ejecutivo y conclusiones:</a:t>
            </a:r>
          </a:p>
          <a:p>
            <a:r>
              <a:rPr lang="es-EC" sz="1600" dirty="0">
                <a:solidFill>
                  <a:schemeClr val="tx1"/>
                </a:solidFill>
              </a:rPr>
              <a:t>   - Identificación de meses clave, recomendaciones y oportunidades de mejora.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846C16-5A67-BE50-F1FE-92AF66062896}"/>
              </a:ext>
            </a:extLst>
          </p:cNvPr>
          <p:cNvSpPr txBox="1"/>
          <p:nvPr/>
        </p:nvSpPr>
        <p:spPr>
          <a:xfrm>
            <a:off x="116541" y="6446895"/>
            <a:ext cx="99575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C" sz="1400" dirty="0">
                <a:solidFill>
                  <a:schemeClr val="tx2"/>
                </a:solidFill>
              </a:rPr>
              <a:t>Datos crudos → Limpieza/Transformación → EDA → Integración → Modelado Predictivo → Visualización → Reporte Ejecutivo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DCEF5F-5440-039A-E534-D0C342CD6566}"/>
              </a:ext>
            </a:extLst>
          </p:cNvPr>
          <p:cNvSpPr txBox="1"/>
          <p:nvPr/>
        </p:nvSpPr>
        <p:spPr>
          <a:xfrm>
            <a:off x="10074088" y="202843"/>
            <a:ext cx="17660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dirty="0">
                <a:solidFill>
                  <a:schemeClr val="accent2"/>
                </a:solidFill>
              </a:rPr>
              <a:t>Guillermo Tapia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4E92E9-26DF-793C-9213-94CA485E8D25}"/>
              </a:ext>
            </a:extLst>
          </p:cNvPr>
          <p:cNvSpPr txBox="1"/>
          <p:nvPr/>
        </p:nvSpPr>
        <p:spPr>
          <a:xfrm>
            <a:off x="6429935" y="1827911"/>
            <a:ext cx="39511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C" dirty="0">
                <a:hlinkClick r:id="rId3"/>
              </a:rPr>
              <a:t>https://github.com/Guillo-bit/Beletza</a:t>
            </a:r>
            <a:r>
              <a:rPr lang="es-EC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45390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3474D05E-8A36-8D9F-519E-DB514A69D8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068" y="177842"/>
            <a:ext cx="6571129" cy="867808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Resumen Ejecutivo</a:t>
            </a:r>
          </a:p>
        </p:txBody>
      </p: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00255621-1D81-03E6-507B-CB20E07035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fld id="{B5CEABB6-07DC-46E8-9B57-56EC44A396E5}" type="slidenum">
              <a:rPr lang="es-ES" smtClean="0"/>
              <a:pPr/>
              <a:t>2</a:t>
            </a:fld>
            <a:endParaRPr lang="es-E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D9D3F97-A122-4E57-7ADC-DB3063CF9D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1069138"/>
              </p:ext>
            </p:extLst>
          </p:nvPr>
        </p:nvGraphicFramePr>
        <p:xfrm>
          <a:off x="2227728" y="1891412"/>
          <a:ext cx="7983071" cy="3291840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4164106">
                  <a:extLst>
                    <a:ext uri="{9D8B030D-6E8A-4147-A177-3AD203B41FA5}">
                      <a16:colId xmlns:a16="http://schemas.microsoft.com/office/drawing/2014/main" val="283804488"/>
                    </a:ext>
                  </a:extLst>
                </a:gridCol>
                <a:gridCol w="2554941">
                  <a:extLst>
                    <a:ext uri="{9D8B030D-6E8A-4147-A177-3AD203B41FA5}">
                      <a16:colId xmlns:a16="http://schemas.microsoft.com/office/drawing/2014/main" val="3877497600"/>
                    </a:ext>
                  </a:extLst>
                </a:gridCol>
                <a:gridCol w="1264024">
                  <a:extLst>
                    <a:ext uri="{9D8B030D-6E8A-4147-A177-3AD203B41FA5}">
                      <a16:colId xmlns:a16="http://schemas.microsoft.com/office/drawing/2014/main" val="14993738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C" b="1" dirty="0"/>
                        <a:t>Indicador</a:t>
                      </a:r>
                      <a:endParaRPr lang="es-EC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C" b="1" dirty="0"/>
                        <a:t>Mes</a:t>
                      </a:r>
                      <a:endParaRPr lang="es-EC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C" b="1"/>
                        <a:t>Valor</a:t>
                      </a:r>
                      <a:endParaRPr lang="es-EC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422416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C" b="1" dirty="0"/>
                        <a:t>Periodo Analizado</a:t>
                      </a:r>
                      <a:endParaRPr lang="es-EC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C"/>
                        <a:t>Mayo 2024 – Abril 2025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C"/>
                        <a:t>-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28452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C" b="1"/>
                        <a:t>Clientes 18-25 años</a:t>
                      </a:r>
                      <a:endParaRPr lang="es-EC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C"/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C"/>
                        <a:t>81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921633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C" b="1"/>
                        <a:t>Mes con mayor ROI Marketing</a:t>
                      </a:r>
                      <a:endParaRPr lang="es-EC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C"/>
                        <a:t>2025-02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C"/>
                        <a:t>35.77%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383886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C" b="1"/>
                        <a:t>Mes con menor ROI Marketing</a:t>
                      </a:r>
                      <a:endParaRPr lang="es-EC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C"/>
                        <a:t>2025-04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C"/>
                        <a:t>9.58%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637091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C" b="1" dirty="0"/>
                        <a:t>Mes con mayor Tasa de conversión web</a:t>
                      </a:r>
                      <a:endParaRPr lang="es-EC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C"/>
                        <a:t>2025-02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C"/>
                        <a:t>15%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56735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C" b="1"/>
                        <a:t>Mes con menor Tasa de conversión web</a:t>
                      </a:r>
                      <a:endParaRPr lang="es-EC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C"/>
                        <a:t>2024-06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C"/>
                        <a:t>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884393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C" b="1"/>
                        <a:t>Mes con mayor Ingresos Totales</a:t>
                      </a:r>
                      <a:endParaRPr lang="es-EC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C"/>
                        <a:t>2025-02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C"/>
                        <a:t>679,130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48497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C" b="1"/>
                        <a:t>Mes con menor Ingresos Totales</a:t>
                      </a:r>
                      <a:endParaRPr lang="es-EC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C"/>
                        <a:t>2024-12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C" dirty="0"/>
                        <a:t>504,221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363190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420594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36FD5F-786B-1974-5F47-94CA02CFA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1990" y="434225"/>
            <a:ext cx="9524998" cy="1499627"/>
          </a:xfrm>
        </p:spPr>
        <p:txBody>
          <a:bodyPr vert="horz" lIns="91440" tIns="45720" rIns="91440" bIns="45720" rtlCol="0" anchor="ctr">
            <a:normAutofit/>
          </a:bodyPr>
          <a:lstStyle>
            <a:defPPr>
              <a:defRPr lang="es-ES"/>
            </a:defPPr>
          </a:lstStyle>
          <a:p>
            <a:r>
              <a:rPr lang="es-ES" kern="1200" cap="all" baseline="0">
                <a:latin typeface="+mj-lt"/>
                <a:ea typeface="+mj-ea"/>
                <a:cs typeface="+mj-cs"/>
              </a:rPr>
              <a:t>Evolución Ventas -Ingresos</a:t>
            </a:r>
          </a:p>
        </p:txBody>
      </p:sp>
      <p:pic>
        <p:nvPicPr>
          <p:cNvPr id="10" name="Picture 9" descr="A graph with lines and dots&#10;&#10;AI-generated content may be incorrect.">
            <a:extLst>
              <a:ext uri="{FF2B5EF4-FFF2-40B4-BE49-F238E27FC236}">
                <a16:creationId xmlns:a16="http://schemas.microsoft.com/office/drawing/2014/main" id="{31F1D07B-F469-F4F5-F9BA-73A65D18AD9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295" r="15790" b="2"/>
          <a:stretch>
            <a:fillRect/>
          </a:stretch>
        </p:blipFill>
        <p:spPr>
          <a:xfrm>
            <a:off x="914399" y="2022250"/>
            <a:ext cx="6257366" cy="3914910"/>
          </a:xfrm>
          <a:prstGeom prst="rect">
            <a:avLst/>
          </a:prstGeom>
          <a:noFill/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78A61AC-146F-E8B2-BDB2-B1DCFB734826}"/>
              </a:ext>
            </a:extLst>
          </p:cNvPr>
          <p:cNvSpPr txBox="1"/>
          <p:nvPr/>
        </p:nvSpPr>
        <p:spPr>
          <a:xfrm>
            <a:off x="7967475" y="2018119"/>
            <a:ext cx="2449514" cy="3931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28600" indent="-228600">
              <a:lnSpc>
                <a:spcPct val="9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Evolución mensual de unidades vendidas e ingresos totales.</a:t>
            </a:r>
          </a:p>
          <a:p>
            <a:pPr marL="228600" indent="-228600">
              <a:lnSpc>
                <a:spcPct val="9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Se observa crecimiento en ingresos durante Febrero 2025, coincidiendo con incremento en ROI de marketing.</a:t>
            </a:r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3EB35D4F-684D-2D5E-32E8-EF0C3CE26E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s-ES" smtClean="0"/>
              <a:pPr>
                <a:spcAft>
                  <a:spcPts val="600"/>
                </a:spcAft>
              </a:pPr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937429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6">
            <a:extLst>
              <a:ext uri="{FF2B5EF4-FFF2-40B4-BE49-F238E27FC236}">
                <a16:creationId xmlns:a16="http://schemas.microsoft.com/office/drawing/2014/main" id="{ADD59383-E6CD-CF57-B9CF-5820B1CECE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1990" y="434225"/>
            <a:ext cx="9524998" cy="1499627"/>
          </a:xfrm>
        </p:spPr>
        <p:txBody>
          <a:bodyPr rtlCol="0" anchor="ctr">
            <a:normAutofit/>
          </a:bodyPr>
          <a:lstStyle>
            <a:defPPr>
              <a:defRPr lang="es-ES"/>
            </a:defPPr>
          </a:lstStyle>
          <a:p>
            <a:pPr rtl="0"/>
            <a:r>
              <a:rPr lang="es-ES" dirty="0"/>
              <a:t>ROI de Marketing</a:t>
            </a:r>
          </a:p>
        </p:txBody>
      </p:sp>
      <p:pic>
        <p:nvPicPr>
          <p:cNvPr id="6" name="Picture 5" descr="A graph with green bars&#10;&#10;AI-generated content may be incorrect.">
            <a:extLst>
              <a:ext uri="{FF2B5EF4-FFF2-40B4-BE49-F238E27FC236}">
                <a16:creationId xmlns:a16="http://schemas.microsoft.com/office/drawing/2014/main" id="{C46EBA83-4E24-57A3-5497-74105269F2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9" y="2415363"/>
            <a:ext cx="6257366" cy="3128683"/>
          </a:xfrm>
          <a:prstGeom prst="rect">
            <a:avLst/>
          </a:prstGeom>
          <a:noFill/>
        </p:spPr>
      </p:pic>
      <p:sp>
        <p:nvSpPr>
          <p:cNvPr id="8" name="Marcador de contenido 7">
            <a:extLst>
              <a:ext uri="{FF2B5EF4-FFF2-40B4-BE49-F238E27FC236}">
                <a16:creationId xmlns:a16="http://schemas.microsoft.com/office/drawing/2014/main" id="{8B672BC8-D7EC-066C-9025-5F29713D849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7967475" y="2018119"/>
            <a:ext cx="2449514" cy="3931919"/>
          </a:xfrm>
        </p:spPr>
        <p:txBody>
          <a:bodyPr rtlCol="0">
            <a:normAutofit/>
          </a:bodyPr>
          <a:lstStyle>
            <a:defPPr>
              <a:defRPr lang="es-ES"/>
            </a:defPPr>
          </a:lstStyle>
          <a:p>
            <a:r>
              <a:rPr lang="es-EC" sz="1700" b="0" dirty="0"/>
              <a:t>ROI mensual del marketing digital para la Línea Joven.</a:t>
            </a:r>
          </a:p>
          <a:p>
            <a:r>
              <a:rPr lang="es-EC" sz="1700" b="0" dirty="0"/>
              <a:t>Febrero 2025 destaca como el mes con mayor eficiencia en inversión (35.77%).</a:t>
            </a:r>
          </a:p>
          <a:p>
            <a:r>
              <a:rPr lang="es-EC" sz="1700" b="0" dirty="0"/>
              <a:t>Abril 2025 presenta el ROI más bajo (9.58%), indicando oportunidad de optimización.</a:t>
            </a:r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C09290B6-347C-5AD2-782C-A53187C92F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/>
          <a:lstStyle/>
          <a:p>
            <a:pPr rtl="0">
              <a:spcAft>
                <a:spcPts val="600"/>
              </a:spcAft>
            </a:pPr>
            <a:fld id="{B5CEABB6-07DC-46E8-9B57-56EC44A396E5}" type="slidenum">
              <a:rPr lang="es-ES" smtClean="0"/>
              <a:pPr rtl="0">
                <a:spcAft>
                  <a:spcPts val="600"/>
                </a:spcAft>
              </a:pPr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61765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18E4F0B-A6EB-861C-1C34-CAA9BDE478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593" y="0"/>
            <a:ext cx="9524998" cy="1499627"/>
          </a:xfrm>
        </p:spPr>
        <p:txBody>
          <a:bodyPr rtlCol="0" anchor="ctr">
            <a:normAutofit/>
          </a:bodyPr>
          <a:lstStyle>
            <a:defPPr>
              <a:defRPr lang="es-ES"/>
            </a:defPPr>
          </a:lstStyle>
          <a:p>
            <a:pPr rtl="0"/>
            <a:r>
              <a:rPr lang="es-ES" dirty="0"/>
              <a:t>Tasas de Conversión web</a:t>
            </a:r>
          </a:p>
        </p:txBody>
      </p:sp>
      <p:pic>
        <p:nvPicPr>
          <p:cNvPr id="6" name="Picture 5" descr="A graph with lines and dots&#10;&#10;AI-generated content may be incorrect.">
            <a:extLst>
              <a:ext uri="{FF2B5EF4-FFF2-40B4-BE49-F238E27FC236}">
                <a16:creationId xmlns:a16="http://schemas.microsoft.com/office/drawing/2014/main" id="{A7870D73-9305-95C9-CDA1-5AF5DF49276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388" r="697" b="2"/>
          <a:stretch>
            <a:fillRect/>
          </a:stretch>
        </p:blipFill>
        <p:spPr>
          <a:xfrm>
            <a:off x="471725" y="3217984"/>
            <a:ext cx="4706624" cy="2944691"/>
          </a:xfrm>
          <a:prstGeom prst="rect">
            <a:avLst/>
          </a:prstGeom>
          <a:noFill/>
        </p:spPr>
      </p:pic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9F97739-E0DF-24F3-7886-013A799A52C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271305" y="1596088"/>
            <a:ext cx="9291574" cy="3931919"/>
          </a:xfrm>
        </p:spPr>
        <p:txBody>
          <a:bodyPr rtlCol="0">
            <a:normAutofit/>
          </a:bodyPr>
          <a:lstStyle>
            <a:defPPr>
              <a:defRPr lang="es-ES"/>
            </a:defPPr>
          </a:lstStyle>
          <a:p>
            <a:r>
              <a:rPr lang="es-EC" sz="1700" b="0" dirty="0"/>
              <a:t>Se muestran la tasa de conversión y la tasa de </a:t>
            </a:r>
            <a:r>
              <a:rPr lang="es-EC" sz="1700" b="0" dirty="0" err="1"/>
              <a:t>add-to-cart</a:t>
            </a:r>
            <a:r>
              <a:rPr lang="es-EC" sz="1700" b="0" dirty="0"/>
              <a:t> mensuales.</a:t>
            </a:r>
          </a:p>
          <a:p>
            <a:r>
              <a:rPr lang="es-EC" sz="1700" b="0" dirty="0"/>
              <a:t>Febrero 2025 también lidera la tasa de conversión web (15%).</a:t>
            </a:r>
          </a:p>
          <a:p>
            <a:r>
              <a:rPr lang="es-EC" sz="1700" b="0" dirty="0"/>
              <a:t>Junio 2024 presenta conversión nula (0%), indicando necesidad de mejora en </a:t>
            </a:r>
            <a:r>
              <a:rPr lang="es-EC" sz="1700" b="0" dirty="0" err="1"/>
              <a:t>engagement</a:t>
            </a:r>
            <a:r>
              <a:rPr lang="es-EC" sz="1700" b="0" dirty="0"/>
              <a:t>.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FE0D061-7327-A55C-AF6A-A95C24DD8B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 rtlCol="0" anchor="ctr">
            <a:normAutofit/>
          </a:bodyPr>
          <a:lstStyle>
            <a:defPPr>
              <a:defRPr lang="es-ES"/>
            </a:defPPr>
          </a:lstStyle>
          <a:p>
            <a:pPr rtl="0">
              <a:spcAft>
                <a:spcPts val="600"/>
              </a:spcAft>
            </a:pPr>
            <a:fld id="{B5CEABB6-07DC-46E8-9B57-56EC44A396E5}" type="slidenum">
              <a:rPr lang="es-ES" smtClean="0"/>
              <a:pPr rtl="0">
                <a:spcAft>
                  <a:spcPts val="600"/>
                </a:spcAft>
              </a:pPr>
              <a:t>5</a:t>
            </a:fld>
            <a:endParaRPr lang="es-ES"/>
          </a:p>
        </p:txBody>
      </p:sp>
      <p:pic>
        <p:nvPicPr>
          <p:cNvPr id="8" name="Picture 7" descr="A graph with green and blue lines&#10;&#10;AI-generated content may be incorrect.">
            <a:extLst>
              <a:ext uri="{FF2B5EF4-FFF2-40B4-BE49-F238E27FC236}">
                <a16:creationId xmlns:a16="http://schemas.microsoft.com/office/drawing/2014/main" id="{19D0EC11-4515-1F95-BB22-E4E4864414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999" y="3321820"/>
            <a:ext cx="5474041" cy="2737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006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4808221-C29B-07A3-B569-B8B466B10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8" y="365125"/>
            <a:ext cx="10439401" cy="1617017"/>
          </a:xfrm>
        </p:spPr>
        <p:txBody>
          <a:bodyPr rtlCol="0" anchor="ctr">
            <a:normAutofit/>
          </a:bodyPr>
          <a:lstStyle>
            <a:defPPr>
              <a:defRPr lang="es-ES"/>
            </a:defPPr>
          </a:lstStyle>
          <a:p>
            <a:r>
              <a:rPr lang="es-EC" dirty="0"/>
              <a:t>Evolución Consolidada Ventas, Web y Marketing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6BEA7D4-8B96-5A0E-252E-6B8E8B1CF17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399" y="2022250"/>
            <a:ext cx="3310129" cy="3747180"/>
          </a:xfrm>
        </p:spPr>
        <p:txBody>
          <a:bodyPr rtlCol="0">
            <a:normAutofit/>
          </a:bodyPr>
          <a:lstStyle>
            <a:defPPr>
              <a:defRPr lang="es-ES"/>
            </a:defPPr>
          </a:lstStyle>
          <a:p>
            <a:r>
              <a:rPr lang="es-EC" b="0" noProof="1"/>
              <a:t>Análisis combinado de ventas, comportamiento web e inversión de marketing.</a:t>
            </a:r>
          </a:p>
          <a:p>
            <a:r>
              <a:rPr lang="es-EC" b="0" noProof="1"/>
              <a:t>Permite observar correlaciones y tendencias integrales.</a:t>
            </a:r>
            <a:endParaRPr lang="es-ES" b="0" noProof="1"/>
          </a:p>
        </p:txBody>
      </p:sp>
      <p:pic>
        <p:nvPicPr>
          <p:cNvPr id="8" name="Picture 7" descr="A graph with lines and dots&#10;&#10;AI-generated content may be incorrect.">
            <a:extLst>
              <a:ext uri="{FF2B5EF4-FFF2-40B4-BE49-F238E27FC236}">
                <a16:creationId xmlns:a16="http://schemas.microsoft.com/office/drawing/2014/main" id="{398088D8-40DF-7CAF-1749-FD2D390419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913" b="1"/>
          <a:stretch>
            <a:fillRect/>
          </a:stretch>
        </p:blipFill>
        <p:spPr>
          <a:xfrm>
            <a:off x="4602310" y="2018120"/>
            <a:ext cx="6751489" cy="3747180"/>
          </a:xfrm>
          <a:prstGeom prst="rect">
            <a:avLst/>
          </a:prstGeom>
          <a:noFill/>
        </p:spPr>
      </p:pic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DD21954E-BB7F-D9C8-824F-283150FC5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/>
          <a:lstStyle/>
          <a:p>
            <a:pPr rtl="0">
              <a:spcAft>
                <a:spcPts val="600"/>
              </a:spcAft>
            </a:pPr>
            <a:fld id="{B5CEABB6-07DC-46E8-9B57-56EC44A396E5}" type="slidenum">
              <a:rPr lang="es-ES" smtClean="0"/>
              <a:pPr rtl="0">
                <a:spcAft>
                  <a:spcPts val="600"/>
                </a:spcAft>
              </a:pPr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604174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92D586-3F7C-3202-E4F4-1F65B9A7D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210235"/>
            <a:ext cx="4471517" cy="72344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Correlaciones </a:t>
            </a:r>
            <a:r>
              <a:rPr lang="es-ES" dirty="0" err="1"/>
              <a:t>ClaVe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75DADF2-8E4D-6C0E-0FA2-C5228AF29C1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16725" y="1172216"/>
            <a:ext cx="5181600" cy="3225355"/>
          </a:xfrm>
        </p:spPr>
        <p:txBody>
          <a:bodyPr rtlCol="0">
            <a:normAutofit fontScale="92500" lnSpcReduction="20000"/>
          </a:bodyPr>
          <a:lstStyle>
            <a:defPPr>
              <a:defRPr lang="es-ES"/>
            </a:defPPr>
          </a:lstStyle>
          <a:p>
            <a:r>
              <a:rPr lang="es-ES" noProof="1"/>
              <a:t>Matriz de correlaciones entre métricas principales:</a:t>
            </a:r>
          </a:p>
          <a:p>
            <a:endParaRPr lang="es-ES" noProof="1"/>
          </a:p>
          <a:p>
            <a:r>
              <a:rPr lang="es-ES" noProof="1"/>
              <a:t>Correlaciones más relevantes (|corr| &gt; 0.5):</a:t>
            </a:r>
          </a:p>
          <a:p>
            <a:r>
              <a:rPr lang="es-ES" noProof="1"/>
              <a:t>- Ventas ↔ Ingresos Totales: 0.78</a:t>
            </a:r>
          </a:p>
          <a:p>
            <a:r>
              <a:rPr lang="es-ES" noProof="1"/>
              <a:t>- Ventas ↔ Compras web: 0.50</a:t>
            </a:r>
          </a:p>
          <a:p>
            <a:r>
              <a:rPr lang="es-ES" noProof="1"/>
              <a:t>- Inversión Marketing ↔ Compras web: -0.58</a:t>
            </a:r>
          </a:p>
          <a:p>
            <a:r>
              <a:rPr lang="es-ES" noProof="1"/>
              <a:t>- Inversión Marketing ↔ Conversiones: 0.65</a:t>
            </a:r>
          </a:p>
          <a:p>
            <a:r>
              <a:rPr lang="es-ES" noProof="1"/>
              <a:t>- Add-to-cart ↔ Compras web: 0.71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FD4FFC83-A1E8-FCEA-2C47-38C5ADAEA1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fld id="{B5CEABB6-07DC-46E8-9B57-56EC44A396E5}" type="slidenum">
              <a:rPr lang="es-ES" smtClean="0"/>
              <a:pPr/>
              <a:t>7</a:t>
            </a:fld>
            <a:endParaRPr lang="es-ES" dirty="0"/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92D606D7-B11C-E5BB-DB99-5942254175EA}"/>
              </a:ext>
            </a:extLst>
          </p:cNvPr>
          <p:cNvSpPr txBox="1">
            <a:spLocks/>
          </p:cNvSpPr>
          <p:nvPr/>
        </p:nvSpPr>
        <p:spPr>
          <a:xfrm>
            <a:off x="5961529" y="210235"/>
            <a:ext cx="6042212" cy="11855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es-ES"/>
            </a:defPPr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s-ES" sz="32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C" dirty="0"/>
              <a:t>Modelos Predictivos y </a:t>
            </a:r>
            <a:r>
              <a:rPr lang="es-EC" dirty="0" err="1"/>
              <a:t>Feature</a:t>
            </a:r>
            <a:r>
              <a:rPr lang="es-EC" dirty="0"/>
              <a:t> </a:t>
            </a:r>
            <a:r>
              <a:rPr lang="es-EC" dirty="0" err="1"/>
              <a:t>Importance</a:t>
            </a:r>
            <a:endParaRPr lang="es-EC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48E63B9-05A9-6AEC-1F03-690D38F33AA2}"/>
              </a:ext>
            </a:extLst>
          </p:cNvPr>
          <p:cNvSpPr txBox="1"/>
          <p:nvPr/>
        </p:nvSpPr>
        <p:spPr>
          <a:xfrm>
            <a:off x="5961529" y="1318865"/>
            <a:ext cx="60960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C" dirty="0" err="1"/>
              <a:t>RandomForest</a:t>
            </a:r>
            <a:r>
              <a:rPr lang="es-EC" dirty="0"/>
              <a:t>:</a:t>
            </a:r>
          </a:p>
          <a:p>
            <a:r>
              <a:rPr lang="es-EC" dirty="0"/>
              <a:t>- RMSE: 80.30, R²: -15.27</a:t>
            </a:r>
          </a:p>
          <a:p>
            <a:r>
              <a:rPr lang="es-EC" dirty="0"/>
              <a:t>- Variables más importantes: Inversión Marketing, Conversiones, Tiempo promedio web</a:t>
            </a:r>
          </a:p>
          <a:p>
            <a:endParaRPr lang="es-EC" dirty="0"/>
          </a:p>
          <a:p>
            <a:r>
              <a:rPr lang="es-EC" dirty="0" err="1"/>
              <a:t>GradientBoosting</a:t>
            </a:r>
            <a:r>
              <a:rPr lang="es-EC" dirty="0"/>
              <a:t>:</a:t>
            </a:r>
          </a:p>
          <a:p>
            <a:r>
              <a:rPr lang="es-EC" dirty="0"/>
              <a:t>- RMSE: 98.84, R²: -23.66</a:t>
            </a:r>
          </a:p>
          <a:p>
            <a:r>
              <a:rPr lang="es-EC" dirty="0"/>
              <a:t>- Variables más importantes: Conversiones, Clics, </a:t>
            </a:r>
            <a:r>
              <a:rPr lang="es-EC" dirty="0" err="1"/>
              <a:t>Add-to-cart</a:t>
            </a:r>
            <a:endParaRPr lang="es-EC" dirty="0"/>
          </a:p>
        </p:txBody>
      </p:sp>
      <p:pic>
        <p:nvPicPr>
          <p:cNvPr id="14" name="Picture 13" descr="A graph of a number of colored bars&#10;&#10;AI-generated content may be incorrect.">
            <a:extLst>
              <a:ext uri="{FF2B5EF4-FFF2-40B4-BE49-F238E27FC236}">
                <a16:creationId xmlns:a16="http://schemas.microsoft.com/office/drawing/2014/main" id="{BC1F5A02-5C66-35E1-F64C-719073C0E9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0751" y="3991990"/>
            <a:ext cx="4547350" cy="2842093"/>
          </a:xfrm>
          <a:prstGeom prst="rect">
            <a:avLst/>
          </a:prstGeom>
        </p:spPr>
      </p:pic>
      <p:pic>
        <p:nvPicPr>
          <p:cNvPr id="16" name="Picture 15" descr="A graph with different colored bars&#10;&#10;AI-generated content may be incorrect.">
            <a:extLst>
              <a:ext uri="{FF2B5EF4-FFF2-40B4-BE49-F238E27FC236}">
                <a16:creationId xmlns:a16="http://schemas.microsoft.com/office/drawing/2014/main" id="{A474A21E-4F6C-9A03-9EAF-8AA11BBBE7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725" y="4211644"/>
            <a:ext cx="4019849" cy="2512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04034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BDB0AE-5ADD-1975-6BDD-386089250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8" y="365125"/>
            <a:ext cx="10439401" cy="1617017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Conclusiones y Recomendaciones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D27E5DB-AFB6-9088-87C9-1F671C0B03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fld id="{B5CEABB6-07DC-46E8-9B57-56EC44A396E5}" type="slidenum">
              <a:rPr lang="es-ES" smtClean="0"/>
              <a:pPr/>
              <a:t>8</a:t>
            </a:fld>
            <a:endParaRPr lang="es-E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D15CB97-1D32-31A8-441E-48B3DDFA7E6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986118" y="2018120"/>
            <a:ext cx="10367681" cy="3747180"/>
          </a:xfrm>
        </p:spPr>
        <p:txBody>
          <a:bodyPr/>
          <a:lstStyle/>
          <a:p>
            <a:r>
              <a:rPr lang="es-EC" dirty="0"/>
              <a:t>1. Febrero 2025 fue el mes más destacado en ROI, conversión web e ingresos.</a:t>
            </a:r>
          </a:p>
          <a:p>
            <a:r>
              <a:rPr lang="es-EC" dirty="0"/>
              <a:t>2. La relación entre inversión y resultados no es lineal; optimizar inversión puede mejorar ROI.</a:t>
            </a:r>
          </a:p>
          <a:p>
            <a:r>
              <a:rPr lang="es-EC" dirty="0"/>
              <a:t>3. Variables web (clics, </a:t>
            </a:r>
            <a:r>
              <a:rPr lang="es-EC" dirty="0" err="1"/>
              <a:t>add-to-cart</a:t>
            </a:r>
            <a:r>
              <a:rPr lang="es-EC" dirty="0"/>
              <a:t>) impactan fuertemente las compras.</a:t>
            </a:r>
          </a:p>
          <a:p>
            <a:r>
              <a:rPr lang="es-EC" dirty="0"/>
              <a:t>4. Recomendación: campañas focalizadas, mejorar </a:t>
            </a:r>
            <a:r>
              <a:rPr lang="es-EC" dirty="0" err="1"/>
              <a:t>engagement</a:t>
            </a:r>
            <a:r>
              <a:rPr lang="es-EC" dirty="0"/>
              <a:t> web y ajustar inversión en meses bajos</a:t>
            </a:r>
          </a:p>
        </p:txBody>
      </p:sp>
      <p:pic>
        <p:nvPicPr>
          <p:cNvPr id="11" name="Picture 10" descr="A graph with red and orange lines&#10;&#10;AI-generated content may be incorrect.">
            <a:extLst>
              <a:ext uri="{FF2B5EF4-FFF2-40B4-BE49-F238E27FC236}">
                <a16:creationId xmlns:a16="http://schemas.microsoft.com/office/drawing/2014/main" id="{55675F63-3DCC-F804-53AD-AA03261FF1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7949" y="2285991"/>
            <a:ext cx="9144018" cy="4572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6996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FEAA13-E02F-EB47-E510-E3F48A95F8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385" y="446313"/>
            <a:ext cx="5628348" cy="1448747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Próximos Pasos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5E26637-007F-EC9E-F644-AAFBA0900F3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399" y="2022250"/>
            <a:ext cx="8552330" cy="3747180"/>
          </a:xfrm>
        </p:spPr>
        <p:txBody>
          <a:bodyPr rtlCol="0"/>
          <a:lstStyle>
            <a:defPPr>
              <a:defRPr lang="es-ES"/>
            </a:defPPr>
          </a:lstStyle>
          <a:p>
            <a:r>
              <a:rPr lang="es-EC" dirty="0"/>
              <a:t>1. Implementar estrategia de marketing optimizada para meses de bajo ROI.</a:t>
            </a:r>
          </a:p>
          <a:p>
            <a:r>
              <a:rPr lang="es-EC" dirty="0"/>
              <a:t>2. Mejorar experiencia web y tasas de conversión.</a:t>
            </a:r>
          </a:p>
          <a:p>
            <a:r>
              <a:rPr lang="es-EC" dirty="0"/>
              <a:t>3. Monitorear en tiempo real indicadores clave de Línea Joven.</a:t>
            </a:r>
          </a:p>
          <a:p>
            <a:r>
              <a:rPr lang="es-EC" dirty="0"/>
              <a:t>4. Ampliar análisis predictivo para ajustar inversión y promociones.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1DDD930B-FB1B-543D-6828-8C31F30BBD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fld id="{B5CEABB6-07DC-46E8-9B57-56EC44A396E5}" type="slidenum">
              <a:rPr lang="es-ES" smtClean="0"/>
              <a:pPr/>
              <a:t>9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174470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D62B2F-534F-A196-1186-33D282CE3C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365125"/>
            <a:ext cx="10363202" cy="1603462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Información general del mercado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3C71586-1388-197C-1294-83D4DD85293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399" y="2022250"/>
            <a:ext cx="3299013" cy="391491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Oportunidad de crear</a:t>
            </a:r>
          </a:p>
          <a:p>
            <a:pPr rtl="0"/>
            <a:r>
              <a:rPr lang="es-ES" dirty="0"/>
              <a:t>Mercado totalmente inclusivo</a:t>
            </a:r>
          </a:p>
          <a:p>
            <a:pPr rtl="0"/>
            <a:r>
              <a:rPr lang="es-ES" dirty="0"/>
              <a:t>Mercado total disponible</a:t>
            </a:r>
          </a:p>
          <a:p>
            <a:pPr rtl="0"/>
            <a:r>
              <a:rPr lang="es-ES" noProof="1"/>
              <a:t>Libertad para crear</a:t>
            </a:r>
            <a:endParaRPr lang="es-ES" dirty="0"/>
          </a:p>
          <a:p>
            <a:pPr rtl="0"/>
            <a:r>
              <a:rPr lang="es-ES" noProof="1"/>
              <a:t>Mercado inclusivo de forma selectiva</a:t>
            </a:r>
          </a:p>
          <a:p>
            <a:pPr rtl="0"/>
            <a:r>
              <a:rPr lang="es-ES" noProof="1"/>
              <a:t>Mercado disponible útil</a:t>
            </a:r>
          </a:p>
        </p:txBody>
      </p:sp>
      <p:graphicFrame>
        <p:nvGraphicFramePr>
          <p:cNvPr id="6" name="Tabla 11">
            <a:extLst>
              <a:ext uri="{FF2B5EF4-FFF2-40B4-BE49-F238E27FC236}">
                <a16:creationId xmlns:a16="http://schemas.microsoft.com/office/drawing/2014/main" id="{2EE5D6E7-8306-54E8-220A-099D3B755FFE}"/>
              </a:ext>
            </a:extLst>
          </p:cNvPr>
          <p:cNvGraphicFramePr>
            <a:graphicFrameLocks noGrp="1"/>
          </p:cNvGraphicFramePr>
          <p:nvPr>
            <p:ph type="tbl" sz="quarter" idx="11"/>
            <p:extLst>
              <p:ext uri="{D42A27DB-BD31-4B8C-83A1-F6EECF244321}">
                <p14:modId xmlns:p14="http://schemas.microsoft.com/office/powerpoint/2010/main" val="3742760090"/>
              </p:ext>
            </p:extLst>
          </p:nvPr>
        </p:nvGraphicFramePr>
        <p:xfrm>
          <a:off x="4602163" y="2017713"/>
          <a:ext cx="6675294" cy="39254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5272">
                  <a:extLst>
                    <a:ext uri="{9D8B030D-6E8A-4147-A177-3AD203B41FA5}">
                      <a16:colId xmlns:a16="http://schemas.microsoft.com/office/drawing/2014/main" val="3233966979"/>
                    </a:ext>
                  </a:extLst>
                </a:gridCol>
                <a:gridCol w="1085272">
                  <a:extLst>
                    <a:ext uri="{9D8B030D-6E8A-4147-A177-3AD203B41FA5}">
                      <a16:colId xmlns:a16="http://schemas.microsoft.com/office/drawing/2014/main" val="1158840958"/>
                    </a:ext>
                  </a:extLst>
                </a:gridCol>
                <a:gridCol w="1085272">
                  <a:extLst>
                    <a:ext uri="{9D8B030D-6E8A-4147-A177-3AD203B41FA5}">
                      <a16:colId xmlns:a16="http://schemas.microsoft.com/office/drawing/2014/main" val="1014947327"/>
                    </a:ext>
                  </a:extLst>
                </a:gridCol>
                <a:gridCol w="1709739">
                  <a:extLst>
                    <a:ext uri="{9D8B030D-6E8A-4147-A177-3AD203B41FA5}">
                      <a16:colId xmlns:a16="http://schemas.microsoft.com/office/drawing/2014/main" val="2653728004"/>
                    </a:ext>
                  </a:extLst>
                </a:gridCol>
                <a:gridCol w="1709739">
                  <a:extLst>
                    <a:ext uri="{9D8B030D-6E8A-4147-A177-3AD203B41FA5}">
                      <a16:colId xmlns:a16="http://schemas.microsoft.com/office/drawing/2014/main" val="4218738779"/>
                    </a:ext>
                  </a:extLst>
                </a:gridCol>
              </a:tblGrid>
              <a:tr h="785097"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/>
                      <a:endParaRPr lang="es-ES" sz="1800" noProof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/>
                      <a:r>
                        <a:rPr lang="es-ES" sz="1800" noProof="0" dirty="0">
                          <a:solidFill>
                            <a:schemeClr val="tx1"/>
                          </a:solidFill>
                        </a:rPr>
                        <a:t>Clientes</a:t>
                      </a:r>
                    </a:p>
                  </a:txBody>
                  <a:tcPr marL="95186" marR="95186" marT="47593" marB="47593"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/>
                      <a:r>
                        <a:rPr lang="es-ES" sz="1800" noProof="0" dirty="0">
                          <a:solidFill>
                            <a:schemeClr val="tx1"/>
                          </a:solidFill>
                        </a:rPr>
                        <a:t>Pedidos</a:t>
                      </a:r>
                    </a:p>
                  </a:txBody>
                  <a:tcPr marL="95186" marR="95186" marT="47593" marB="47593"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/>
                      <a:r>
                        <a:rPr lang="es-ES" sz="1800" noProof="0" dirty="0">
                          <a:solidFill>
                            <a:schemeClr val="tx1"/>
                          </a:solidFill>
                        </a:rPr>
                        <a:t>Ingresos brutos</a:t>
                      </a:r>
                    </a:p>
                  </a:txBody>
                  <a:tcPr marL="95186" marR="95186" marT="47593" marB="47593"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/>
                      <a:r>
                        <a:rPr lang="es-ES" sz="1800" noProof="0" dirty="0">
                          <a:solidFill>
                            <a:schemeClr val="tx1"/>
                          </a:solidFill>
                        </a:rPr>
                        <a:t>Ingresos netos</a:t>
                      </a:r>
                    </a:p>
                  </a:txBody>
                  <a:tcPr marL="95186" marR="95186" marT="47593" marB="47593" anchor="ctr"/>
                </a:tc>
                <a:extLst>
                  <a:ext uri="{0D108BD9-81ED-4DB2-BD59-A6C34878D82A}">
                    <a16:rowId xmlns:a16="http://schemas.microsoft.com/office/drawing/2014/main" val="3213590700"/>
                  </a:ext>
                </a:extLst>
              </a:tr>
              <a:tr h="785097"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/>
                      <a:r>
                        <a:rPr lang="es-ES" sz="1800" noProof="0" dirty="0">
                          <a:solidFill>
                            <a:schemeClr val="tx1"/>
                          </a:solidFill>
                        </a:rPr>
                        <a:t>20XX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/>
                      <a:r>
                        <a:rPr lang="es-ES" sz="1800" noProof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marL="95186" marR="95186" marT="47593" marB="47593"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/>
                      <a:r>
                        <a:rPr lang="es-ES" sz="1800" noProof="0" dirty="0">
                          <a:solidFill>
                            <a:schemeClr val="tx1"/>
                          </a:solidFill>
                        </a:rPr>
                        <a:t>1100</a:t>
                      </a:r>
                    </a:p>
                  </a:txBody>
                  <a:tcPr marL="95186" marR="95186" marT="47593" marB="47593"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/>
                      <a:r>
                        <a:rPr lang="es-ES" sz="1800" noProof="0" dirty="0">
                          <a:solidFill>
                            <a:schemeClr val="tx1"/>
                          </a:solidFill>
                        </a:rPr>
                        <a:t>10 000 €</a:t>
                      </a:r>
                    </a:p>
                  </a:txBody>
                  <a:tcPr marL="95186" marR="95186" marT="47593" marB="47593"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/>
                      <a:r>
                        <a:rPr lang="es-ES" sz="1800" noProof="0" dirty="0">
                          <a:solidFill>
                            <a:schemeClr val="tx1"/>
                          </a:solidFill>
                        </a:rPr>
                        <a:t>7 000 €</a:t>
                      </a:r>
                    </a:p>
                  </a:txBody>
                  <a:tcPr marL="95186" marR="95186" marT="47593" marB="47593" anchor="ctr"/>
                </a:tc>
                <a:extLst>
                  <a:ext uri="{0D108BD9-81ED-4DB2-BD59-A6C34878D82A}">
                    <a16:rowId xmlns:a16="http://schemas.microsoft.com/office/drawing/2014/main" val="2830826746"/>
                  </a:ext>
                </a:extLst>
              </a:tr>
              <a:tr h="785097"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/>
                      <a:r>
                        <a:rPr lang="es-ES" sz="1800" noProof="0" dirty="0">
                          <a:solidFill>
                            <a:schemeClr val="tx1"/>
                          </a:solidFill>
                        </a:rPr>
                        <a:t>20XX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/>
                      <a:r>
                        <a:rPr lang="es-ES" sz="1800" noProof="0" dirty="0">
                          <a:solidFill>
                            <a:schemeClr val="tx1"/>
                          </a:solidFill>
                        </a:rPr>
                        <a:t>20</a:t>
                      </a:r>
                    </a:p>
                  </a:txBody>
                  <a:tcPr marL="95186" marR="95186" marT="47593" marB="47593"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/>
                      <a:r>
                        <a:rPr lang="es-ES" sz="1800" noProof="0" dirty="0">
                          <a:solidFill>
                            <a:schemeClr val="tx1"/>
                          </a:solidFill>
                        </a:rPr>
                        <a:t>200</a:t>
                      </a:r>
                    </a:p>
                  </a:txBody>
                  <a:tcPr marL="95186" marR="95186" marT="47593" marB="47593"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lang="es-ES"/>
                      </a:pPr>
                      <a:r>
                        <a:rPr lang="es-ES" sz="1800" noProof="0" dirty="0">
                          <a:solidFill>
                            <a:schemeClr val="tx1"/>
                          </a:solidFill>
                        </a:rPr>
                        <a:t>20 000 €</a:t>
                      </a:r>
                    </a:p>
                  </a:txBody>
                  <a:tcPr marL="95186" marR="95186" marT="47593" marB="47593"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lang="es-ES"/>
                      </a:pPr>
                      <a:r>
                        <a:rPr lang="es-ES" sz="1800" noProof="0" dirty="0">
                          <a:solidFill>
                            <a:schemeClr val="tx1"/>
                          </a:solidFill>
                        </a:rPr>
                        <a:t>16 000 €</a:t>
                      </a:r>
                    </a:p>
                  </a:txBody>
                  <a:tcPr marL="95186" marR="95186" marT="47593" marB="47593" anchor="ctr"/>
                </a:tc>
                <a:extLst>
                  <a:ext uri="{0D108BD9-81ED-4DB2-BD59-A6C34878D82A}">
                    <a16:rowId xmlns:a16="http://schemas.microsoft.com/office/drawing/2014/main" val="2517333721"/>
                  </a:ext>
                </a:extLst>
              </a:tr>
              <a:tr h="785097"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/>
                      <a:r>
                        <a:rPr lang="es-ES" sz="1800" noProof="0" dirty="0">
                          <a:solidFill>
                            <a:schemeClr val="tx1"/>
                          </a:solidFill>
                        </a:rPr>
                        <a:t>20XX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/>
                      <a:r>
                        <a:rPr lang="es-ES" sz="1800" noProof="0" dirty="0">
                          <a:solidFill>
                            <a:schemeClr val="tx1"/>
                          </a:solidFill>
                        </a:rPr>
                        <a:t>30</a:t>
                      </a:r>
                    </a:p>
                  </a:txBody>
                  <a:tcPr marL="95186" marR="95186" marT="47593" marB="47593"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/>
                      <a:r>
                        <a:rPr lang="es-ES" sz="1800" noProof="0" dirty="0">
                          <a:solidFill>
                            <a:schemeClr val="tx1"/>
                          </a:solidFill>
                        </a:rPr>
                        <a:t>300</a:t>
                      </a:r>
                    </a:p>
                  </a:txBody>
                  <a:tcPr marL="95186" marR="95186" marT="47593" marB="47593"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lang="es-ES"/>
                      </a:pPr>
                      <a:r>
                        <a:rPr lang="es-ES" sz="1800" noProof="0" dirty="0">
                          <a:solidFill>
                            <a:schemeClr val="tx1"/>
                          </a:solidFill>
                        </a:rPr>
                        <a:t>30 000 €</a:t>
                      </a:r>
                    </a:p>
                  </a:txBody>
                  <a:tcPr marL="95186" marR="95186" marT="47593" marB="47593"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lang="es-ES"/>
                      </a:pPr>
                      <a:r>
                        <a:rPr lang="es-ES" sz="1800" noProof="0" dirty="0">
                          <a:solidFill>
                            <a:schemeClr val="tx1"/>
                          </a:solidFill>
                        </a:rPr>
                        <a:t>25 000 €</a:t>
                      </a:r>
                    </a:p>
                  </a:txBody>
                  <a:tcPr marL="95186" marR="95186" marT="47593" marB="47593" anchor="ctr"/>
                </a:tc>
                <a:extLst>
                  <a:ext uri="{0D108BD9-81ED-4DB2-BD59-A6C34878D82A}">
                    <a16:rowId xmlns:a16="http://schemas.microsoft.com/office/drawing/2014/main" val="3321589815"/>
                  </a:ext>
                </a:extLst>
              </a:tr>
              <a:tr h="785097"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/>
                      <a:r>
                        <a:rPr lang="es-ES" sz="1800" noProof="0" dirty="0">
                          <a:solidFill>
                            <a:schemeClr val="tx1"/>
                          </a:solidFill>
                        </a:rPr>
                        <a:t>20XX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/>
                      <a:r>
                        <a:rPr lang="es-ES" sz="1800" noProof="0" dirty="0">
                          <a:solidFill>
                            <a:schemeClr val="tx1"/>
                          </a:solidFill>
                        </a:rPr>
                        <a:t>40</a:t>
                      </a:r>
                    </a:p>
                  </a:txBody>
                  <a:tcPr marL="95186" marR="95186" marT="47593" marB="47593"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/>
                      <a:r>
                        <a:rPr lang="es-ES" sz="1800" noProof="0" dirty="0">
                          <a:solidFill>
                            <a:schemeClr val="tx1"/>
                          </a:solidFill>
                        </a:rPr>
                        <a:t>400</a:t>
                      </a:r>
                    </a:p>
                  </a:txBody>
                  <a:tcPr marL="95186" marR="95186" marT="47593" marB="47593"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lang="es-ES"/>
                      </a:pPr>
                      <a:r>
                        <a:rPr lang="es-ES" sz="1800" noProof="0" dirty="0">
                          <a:solidFill>
                            <a:schemeClr val="tx1"/>
                          </a:solidFill>
                        </a:rPr>
                        <a:t>40 000 €</a:t>
                      </a:r>
                    </a:p>
                  </a:txBody>
                  <a:tcPr marL="95186" marR="95186" marT="47593" marB="47593"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lang="es-ES"/>
                      </a:pPr>
                      <a:r>
                        <a:rPr lang="es-ES" sz="1800" noProof="0" dirty="0">
                          <a:solidFill>
                            <a:schemeClr val="tx1"/>
                          </a:solidFill>
                        </a:rPr>
                        <a:t>30 000 €</a:t>
                      </a:r>
                    </a:p>
                  </a:txBody>
                  <a:tcPr marL="95186" marR="95186" marT="47593" marB="47593" anchor="ctr"/>
                </a:tc>
                <a:extLst>
                  <a:ext uri="{0D108BD9-81ED-4DB2-BD59-A6C34878D82A}">
                    <a16:rowId xmlns:a16="http://schemas.microsoft.com/office/drawing/2014/main" val="3345832805"/>
                  </a:ext>
                </a:extLst>
              </a:tr>
            </a:tbl>
          </a:graphicData>
        </a:graphic>
      </p:graphicFrame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FF6EF25-1A43-B685-800B-85D36602EF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fld id="{B5CEABB6-07DC-46E8-9B57-56EC44A396E5}" type="slidenum">
              <a:rPr lang="es-ES" smtClean="0"/>
              <a:pPr/>
              <a:t>10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1492614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386DBB-D0DC-05D4-788C-E10EEF6B4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1990" y="434225"/>
            <a:ext cx="9524998" cy="1499627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Solución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0E41F64-E350-1F21-8A57-E740F48F313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399" y="2022250"/>
            <a:ext cx="5579534" cy="391491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Nuestro producto hace la vida más fácil a los consumidores y ningún otro producto del mercado ofrece las mismas características.</a:t>
            </a:r>
          </a:p>
          <a:p>
            <a:pPr lvl="1" rtl="0"/>
            <a:r>
              <a:rPr lang="es-ES" dirty="0"/>
              <a:t>Generación Z (de 18 a 25 años)</a:t>
            </a:r>
          </a:p>
          <a:p>
            <a:pPr lvl="1" rtl="0"/>
            <a:r>
              <a:rPr lang="es-ES" dirty="0"/>
              <a:t>Reducción de los gastos de los productos de repuesto </a:t>
            </a:r>
          </a:p>
          <a:p>
            <a:pPr lvl="1" rtl="0"/>
            <a:r>
              <a:rPr lang="es-ES" dirty="0"/>
              <a:t>Diseño sencillo que proporciona a los clientes la información específica que necesitan</a:t>
            </a:r>
          </a:p>
          <a:p>
            <a:pPr rtl="0"/>
            <a:endParaRPr lang="es-ES" dirty="0"/>
          </a:p>
          <a:p>
            <a:pPr rtl="0"/>
            <a:endParaRPr lang="es-ES" dirty="0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735AC68-D86C-E73B-5402-F22C9F54DC0C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7967475" y="2018119"/>
            <a:ext cx="2449514" cy="393191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Cerrar la brecha</a:t>
            </a:r>
          </a:p>
          <a:p>
            <a:pPr rtl="0"/>
            <a:r>
              <a:rPr lang="es-ES" dirty="0"/>
              <a:t>Público objetivo </a:t>
            </a:r>
          </a:p>
          <a:p>
            <a:pPr rtl="0"/>
            <a:r>
              <a:rPr lang="es-ES" dirty="0"/>
              <a:t>Ahorro de costos</a:t>
            </a:r>
          </a:p>
          <a:p>
            <a:pPr rtl="0"/>
            <a:r>
              <a:rPr lang="es-ES" dirty="0"/>
              <a:t>Fácil de usar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99D2502-F7A7-039F-01A0-59462ADFF6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fld id="{B5CEABB6-07DC-46E8-9B57-56EC44A396E5}" type="slidenum">
              <a:rPr lang="es-ES" smtClean="0"/>
              <a:pPr/>
              <a:t>11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3984060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8ECED9-3D31-C7EF-C4E5-0D218F611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545" y="584477"/>
            <a:ext cx="10354052" cy="120976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Finanzas</a:t>
            </a:r>
          </a:p>
        </p:txBody>
      </p:sp>
      <p:graphicFrame>
        <p:nvGraphicFramePr>
          <p:cNvPr id="5" name="Tabla 9">
            <a:extLst>
              <a:ext uri="{FF2B5EF4-FFF2-40B4-BE49-F238E27FC236}">
                <a16:creationId xmlns:a16="http://schemas.microsoft.com/office/drawing/2014/main" id="{B782709C-FC0C-E355-9C94-A8EE025BAC7B}"/>
              </a:ext>
            </a:extLst>
          </p:cNvPr>
          <p:cNvGraphicFramePr>
            <a:graphicFrameLocks noGrp="1"/>
          </p:cNvGraphicFramePr>
          <p:nvPr>
            <p:ph type="tbl" sz="quarter" idx="10"/>
            <p:extLst>
              <p:ext uri="{D42A27DB-BD31-4B8C-83A1-F6EECF244321}">
                <p14:modId xmlns:p14="http://schemas.microsoft.com/office/powerpoint/2010/main" val="1133369783"/>
              </p:ext>
            </p:extLst>
          </p:nvPr>
        </p:nvGraphicFramePr>
        <p:xfrm>
          <a:off x="923925" y="2009775"/>
          <a:ext cx="10363201" cy="39340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24555">
                  <a:extLst>
                    <a:ext uri="{9D8B030D-6E8A-4147-A177-3AD203B41FA5}">
                      <a16:colId xmlns:a16="http://schemas.microsoft.com/office/drawing/2014/main" val="3446012419"/>
                    </a:ext>
                  </a:extLst>
                </a:gridCol>
                <a:gridCol w="2012882">
                  <a:extLst>
                    <a:ext uri="{9D8B030D-6E8A-4147-A177-3AD203B41FA5}">
                      <a16:colId xmlns:a16="http://schemas.microsoft.com/office/drawing/2014/main" val="4052646397"/>
                    </a:ext>
                  </a:extLst>
                </a:gridCol>
                <a:gridCol w="2012882">
                  <a:extLst>
                    <a:ext uri="{9D8B030D-6E8A-4147-A177-3AD203B41FA5}">
                      <a16:colId xmlns:a16="http://schemas.microsoft.com/office/drawing/2014/main" val="1935352797"/>
                    </a:ext>
                  </a:extLst>
                </a:gridCol>
                <a:gridCol w="2012882">
                  <a:extLst>
                    <a:ext uri="{9D8B030D-6E8A-4147-A177-3AD203B41FA5}">
                      <a16:colId xmlns:a16="http://schemas.microsoft.com/office/drawing/2014/main" val="1218263486"/>
                    </a:ext>
                  </a:extLst>
                </a:gridCol>
              </a:tblGrid>
              <a:tr h="562010"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 fontAlgn="b"/>
                      <a:endParaRPr lang="es-ES" sz="1800" b="0" i="0" u="none" strike="noStrike" noProof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288000"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 fontAlgn="b"/>
                      <a:r>
                        <a:rPr lang="es-ES" sz="1800" b="1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Año 1</a:t>
                      </a:r>
                      <a:endParaRPr lang="es-ES" sz="1800" b="1" i="0" u="none" strike="noStrike" noProof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 fontAlgn="b"/>
                      <a:r>
                        <a:rPr lang="es-ES" sz="1800" b="1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Año 2</a:t>
                      </a:r>
                      <a:endParaRPr lang="es-ES" sz="1800" b="1" i="0" u="none" strike="noStrike" noProof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 fontAlgn="b"/>
                      <a:r>
                        <a:rPr lang="es-ES" sz="1800" b="1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Año 3</a:t>
                      </a:r>
                      <a:endParaRPr lang="es-ES" sz="1800" b="1" i="0" u="none" strike="noStrike" noProof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0773105"/>
                  </a:ext>
                </a:extLst>
              </a:tr>
              <a:tr h="562010"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 fontAlgn="b"/>
                      <a:r>
                        <a:rPr lang="es-ES" sz="18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Ingresos</a:t>
                      </a:r>
                      <a:endParaRPr lang="es-ES" sz="1800" b="0" i="0" u="none" strike="noStrike" noProof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288000"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 fontAlgn="b"/>
                      <a:endParaRPr lang="es-ES" sz="1800" b="0" i="0" u="none" strike="noStrike" noProof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 fontAlgn="b"/>
                      <a:endParaRPr lang="es-ES" sz="1800" b="0" i="0" u="none" strike="noStrike" noProof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 fontAlgn="b"/>
                      <a:endParaRPr lang="es-ES" sz="1800" b="0" i="0" u="none" strike="noStrike" noProof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2911372"/>
                  </a:ext>
                </a:extLst>
              </a:tr>
              <a:tr h="562010"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lvl="1" algn="l" rtl="0" fontAlgn="b"/>
                      <a:r>
                        <a:rPr lang="es-ES" sz="18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Usuarios</a:t>
                      </a:r>
                      <a:endParaRPr lang="es-ES" sz="1800" b="0" i="0" u="none" strike="noStrike" noProof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288000"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 fontAlgn="b"/>
                      <a:r>
                        <a:rPr lang="es-ES" sz="18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50 000</a:t>
                      </a:r>
                      <a:endParaRPr lang="es-ES" sz="1800" b="0" i="0" u="none" strike="noStrike" noProof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 fontAlgn="b"/>
                      <a:r>
                        <a:rPr lang="es-ES" sz="18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400 000</a:t>
                      </a:r>
                      <a:endParaRPr lang="es-ES" sz="1800" b="0" i="0" u="none" strike="noStrike" noProof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 fontAlgn="b"/>
                      <a:r>
                        <a:rPr lang="es-ES" sz="18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1 600 000</a:t>
                      </a:r>
                      <a:endParaRPr lang="es-ES" sz="1800" b="0" i="0" u="none" strike="noStrike" noProof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43393929"/>
                  </a:ext>
                </a:extLst>
              </a:tr>
              <a:tr h="562010"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lvl="1" algn="l" rtl="0" fontAlgn="b"/>
                      <a:r>
                        <a:rPr lang="es-ES" sz="18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Ventas</a:t>
                      </a:r>
                      <a:endParaRPr lang="es-ES" sz="1800" b="0" i="0" u="none" strike="noStrike" noProof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288000"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 fontAlgn="b"/>
                      <a:r>
                        <a:rPr lang="es-ES" sz="18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500 000</a:t>
                      </a:r>
                      <a:endParaRPr lang="es-ES" sz="1800" b="0" i="0" u="none" strike="noStrike" noProof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 fontAlgn="b"/>
                      <a:r>
                        <a:rPr lang="es-ES" sz="18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4 000 000</a:t>
                      </a:r>
                      <a:endParaRPr lang="es-ES" sz="1800" b="0" i="0" u="none" strike="noStrike" noProof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 fontAlgn="b"/>
                      <a:r>
                        <a:rPr lang="es-ES" sz="18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16 000 000</a:t>
                      </a:r>
                      <a:endParaRPr lang="es-ES" sz="1800" b="0" i="0" u="none" strike="noStrike" noProof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5711469"/>
                  </a:ext>
                </a:extLst>
              </a:tr>
              <a:tr h="562010"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lvl="1" algn="l" rtl="0" fontAlgn="b"/>
                      <a:r>
                        <a:rPr lang="es-ES" sz="18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Precio medio por venta</a:t>
                      </a:r>
                      <a:endParaRPr lang="es-ES" sz="1800" b="0" i="0" u="none" strike="noStrike" noProof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288000"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 fontAlgn="b"/>
                      <a:r>
                        <a:rPr lang="es-ES" sz="18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75</a:t>
                      </a:r>
                      <a:endParaRPr lang="es-ES" sz="1800" b="0" i="0" u="none" strike="noStrike" noProof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 fontAlgn="b"/>
                      <a:r>
                        <a:rPr lang="es-ES" sz="18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80</a:t>
                      </a:r>
                      <a:endParaRPr lang="es-ES" sz="1800" b="0" i="0" u="none" strike="noStrike" noProof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 fontAlgn="b"/>
                      <a:r>
                        <a:rPr lang="es-ES" sz="18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90</a:t>
                      </a:r>
                      <a:endParaRPr lang="es-ES" sz="1800" b="0" i="0" u="none" strike="noStrike" noProof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98944196"/>
                  </a:ext>
                </a:extLst>
              </a:tr>
              <a:tr h="562010"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lvl="1" algn="l" rtl="0" fontAlgn="b"/>
                      <a:r>
                        <a:rPr lang="es-ES" sz="18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15 % de los ingresos</a:t>
                      </a:r>
                      <a:endParaRPr lang="es-ES" sz="1800" b="0" i="0" u="none" strike="noStrike" noProof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288000"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 fontAlgn="b"/>
                      <a:r>
                        <a:rPr lang="es-ES" sz="18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5 625 000</a:t>
                      </a:r>
                      <a:endParaRPr lang="es-ES" sz="1800" b="0" i="0" u="none" strike="noStrike" noProof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 fontAlgn="b"/>
                      <a:r>
                        <a:rPr lang="es-ES" sz="18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48 000 000</a:t>
                      </a:r>
                      <a:endParaRPr lang="es-ES" sz="1800" b="0" i="0" u="none" strike="noStrike" noProof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 fontAlgn="b"/>
                      <a:r>
                        <a:rPr lang="es-ES" sz="18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216 000 000</a:t>
                      </a:r>
                      <a:endParaRPr lang="es-ES" sz="1800" b="0" i="0" u="none" strike="noStrike" noProof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61606819"/>
                  </a:ext>
                </a:extLst>
              </a:tr>
              <a:tr h="562010"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 fontAlgn="b"/>
                      <a:r>
                        <a:rPr lang="es-ES" sz="1800" b="1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Beneficio bruto</a:t>
                      </a:r>
                      <a:endParaRPr lang="es-ES" sz="1800" b="1" i="0" u="none" strike="noStrike" noProof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288000"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 fontAlgn="b"/>
                      <a:r>
                        <a:rPr lang="es-ES" sz="1800" b="1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5 625 000</a:t>
                      </a:r>
                      <a:endParaRPr lang="es-ES" sz="1800" b="1" i="0" u="none" strike="noStrike" noProof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 fontAlgn="b"/>
                      <a:r>
                        <a:rPr lang="es-ES" sz="1800" b="1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48 000 000</a:t>
                      </a:r>
                      <a:endParaRPr lang="es-ES" sz="1800" b="1" i="0" u="none" strike="noStrike" noProof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 fontAlgn="b"/>
                      <a:r>
                        <a:rPr lang="es-ES" sz="1800" b="1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216 000 000</a:t>
                      </a:r>
                      <a:endParaRPr lang="es-ES" sz="1800" b="1" i="0" u="none" strike="noStrike" noProof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120011"/>
                  </a:ext>
                </a:extLst>
              </a:tr>
            </a:tbl>
          </a:graphicData>
        </a:graphic>
      </p:graphicFrame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FE50FF3-CE3C-DDFB-B8EA-5BA1668A10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fld id="{B5CEABB6-07DC-46E8-9B57-56EC44A396E5}" type="slidenum">
              <a:rPr lang="es-ES" smtClean="0"/>
              <a:pPr/>
              <a:t>12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3235007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77B52831-0916-294C-0ACB-9774B9805D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4151" r="18577"/>
          <a:stretch/>
        </p:blipFill>
        <p:spPr>
          <a:xfrm flipH="1">
            <a:off x="0" y="0"/>
            <a:ext cx="5181600" cy="6858000"/>
          </a:xfrm>
          <a:prstGeom prst="rect">
            <a:avLst/>
          </a:prstGeom>
        </p:spPr>
      </p:pic>
      <p:sp>
        <p:nvSpPr>
          <p:cNvPr id="7" name="Título 6">
            <a:extLst>
              <a:ext uri="{FF2B5EF4-FFF2-40B4-BE49-F238E27FC236}">
                <a16:creationId xmlns:a16="http://schemas.microsoft.com/office/drawing/2014/main" id="{E82E216E-9EE0-9D3F-D692-083F575A3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1515" y="374090"/>
            <a:ext cx="5057104" cy="3624984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Gracias</a:t>
            </a:r>
          </a:p>
        </p:txBody>
      </p:sp>
      <p:sp>
        <p:nvSpPr>
          <p:cNvPr id="10" name="Marcador de contenido 9">
            <a:extLst>
              <a:ext uri="{FF2B5EF4-FFF2-40B4-BE49-F238E27FC236}">
                <a16:creationId xmlns:a16="http://schemas.microsoft.com/office/drawing/2014/main" id="{1F398FDD-E639-CF6A-B875-443655F2B3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1514" y="4172989"/>
            <a:ext cx="5057103" cy="2519363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Brita Tamm</a:t>
            </a:r>
          </a:p>
          <a:p>
            <a:pPr rtl="0"/>
            <a:r>
              <a:rPr lang="es-ES"/>
              <a:t>502-555-0152</a:t>
            </a:r>
          </a:p>
          <a:p>
            <a:pPr rtl="0"/>
            <a:r>
              <a:rPr lang="es-ES"/>
              <a:t>brita@firstupconsultants.com</a:t>
            </a:r>
          </a:p>
          <a:p>
            <a:pPr rtl="0"/>
            <a:r>
              <a:rPr lang="es-ES"/>
              <a:t>www.firstupconsultants.com</a:t>
            </a:r>
          </a:p>
        </p:txBody>
      </p:sp>
    </p:spTree>
    <p:extLst>
      <p:ext uri="{BB962C8B-B14F-4D97-AF65-F5344CB8AC3E}">
        <p14:creationId xmlns:p14="http://schemas.microsoft.com/office/powerpoint/2010/main" val="769932640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alizar">
  <a:themeElements>
    <a:clrScheme name="Custom 14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3135373_TF22318419_Win32" id="{C35A026D-3477-4C90-9128-052FBAE4EBCF}" vid="{4F91F622-3491-4FD9-8658-5CFF78D7702C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B7B39BD0-040C-43BE-B0E4-512B09E8003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22457D9-12AC-4794-A05E-F1B90FCD8DA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AB045227-5724-4DBF-9712-031B1BFB2C3C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Presentación de ventas minimalista</Template>
  <TotalTime>0</TotalTime>
  <Words>922</Words>
  <Application>Microsoft Office PowerPoint</Application>
  <PresentationFormat>Widescreen</PresentationFormat>
  <Paragraphs>188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Tenorite</vt:lpstr>
      <vt:lpstr>Personalizar</vt:lpstr>
      <vt:lpstr>Al rescate de la Línea Joven</vt:lpstr>
      <vt:lpstr>Resumen Ejecutivo</vt:lpstr>
      <vt:lpstr>Evolución Ventas -Ingresos</vt:lpstr>
      <vt:lpstr>ROI de Marketing</vt:lpstr>
      <vt:lpstr>Tasas de Conversión web</vt:lpstr>
      <vt:lpstr>Evolución Consolidada Ventas, Web y Marketing</vt:lpstr>
      <vt:lpstr>Correlaciones ClaVe</vt:lpstr>
      <vt:lpstr>Conclusiones y Recomendaciones</vt:lpstr>
      <vt:lpstr>Próximos Pasos</vt:lpstr>
      <vt:lpstr>Información general del mercado</vt:lpstr>
      <vt:lpstr>Solución</vt:lpstr>
      <vt:lpstr>Finanzas</vt:lpstr>
      <vt:lpstr>Gracias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Alexis Guillermo Tapia Buenaño</dc:creator>
  <cp:lastModifiedBy>Alexis Guillermo Tapia Buenaño</cp:lastModifiedBy>
  <cp:revision>2</cp:revision>
  <dcterms:created xsi:type="dcterms:W3CDTF">2025-12-01T18:05:56Z</dcterms:created>
  <dcterms:modified xsi:type="dcterms:W3CDTF">2025-12-01T18:39:46Z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f7b10915-602c-481a-bdc7-238d429ea082_Enabled">
    <vt:lpwstr>true</vt:lpwstr>
  </property>
  <property fmtid="{D5CDD505-2E9C-101B-9397-08002B2CF9AE}" pid="4" name="MSIP_Label_f7b10915-602c-481a-bdc7-238d429ea082_SetDate">
    <vt:lpwstr>2025-12-01T18:34:19Z</vt:lpwstr>
  </property>
  <property fmtid="{D5CDD505-2E9C-101B-9397-08002B2CF9AE}" pid="5" name="MSIP_Label_f7b10915-602c-481a-bdc7-238d429ea082_Method">
    <vt:lpwstr>Standard</vt:lpwstr>
  </property>
  <property fmtid="{D5CDD505-2E9C-101B-9397-08002B2CF9AE}" pid="6" name="MSIP_Label_f7b10915-602c-481a-bdc7-238d429ea082_Name">
    <vt:lpwstr>defa4170-0d19-0005-0004-bc88714345d2</vt:lpwstr>
  </property>
  <property fmtid="{D5CDD505-2E9C-101B-9397-08002B2CF9AE}" pid="7" name="MSIP_Label_f7b10915-602c-481a-bdc7-238d429ea082_SiteId">
    <vt:lpwstr>9f119962-8c62-431c-a8ef-e7e0a42d11fc</vt:lpwstr>
  </property>
  <property fmtid="{D5CDD505-2E9C-101B-9397-08002B2CF9AE}" pid="8" name="MSIP_Label_f7b10915-602c-481a-bdc7-238d429ea082_ActionId">
    <vt:lpwstr>10f39345-ac1a-4af3-be08-6dc00fecf85e</vt:lpwstr>
  </property>
  <property fmtid="{D5CDD505-2E9C-101B-9397-08002B2CF9AE}" pid="9" name="MSIP_Label_f7b10915-602c-481a-bdc7-238d429ea082_ContentBits">
    <vt:lpwstr>0</vt:lpwstr>
  </property>
  <property fmtid="{D5CDD505-2E9C-101B-9397-08002B2CF9AE}" pid="10" name="MSIP_Label_f7b10915-602c-481a-bdc7-238d429ea082_Tag">
    <vt:lpwstr>10, 3, 0, 1</vt:lpwstr>
  </property>
</Properties>
</file>