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4"/>
  </p:notesMasterIdLst>
  <p:handoutMasterIdLst>
    <p:handoutMasterId r:id="rId15"/>
  </p:handoutMasterIdLst>
  <p:sldIdLst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>
      <p:cViewPr varScale="1">
        <p:scale>
          <a:sx n="47" d="100"/>
          <a:sy n="47" d="100"/>
        </p:scale>
        <p:origin x="53" y="850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882" y="144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146CFD56-E74D-46D7-A822-3A365FC491DB}" type="datetime1">
              <a:rPr lang="es-ES" smtClean="0"/>
              <a:t>01/12/2025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4BF9A36D-7FAC-478F-9944-F324014F6FD1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1D8ACD52-3BC9-4181-9014-67395FAB9A59}" type="datetime1">
              <a:rPr lang="es-ES" smtClean="0"/>
              <a:t>01/12/2025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D4B9A9E5-4F7F-4A7D-9DE1-899232329269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36033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4B9A9E5-4F7F-4A7D-9DE1-899232329269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865656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áfico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rtlCol="0" anchor="b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buNone/>
              <a:defRPr lang="es-ES" sz="2000"/>
            </a:lvl1pPr>
            <a:lvl2pPr>
              <a:lnSpc>
                <a:spcPct val="120000"/>
              </a:lnSpc>
              <a:defRPr lang="es-ES" sz="1800"/>
            </a:lvl2pPr>
            <a:lvl3pPr>
              <a:lnSpc>
                <a:spcPct val="120000"/>
              </a:lnSpc>
              <a:defRPr lang="es-ES" sz="1600"/>
            </a:lvl3pPr>
            <a:lvl4pPr>
              <a:lnSpc>
                <a:spcPct val="120000"/>
              </a:lnSpc>
              <a:defRPr lang="es-ES" sz="1400"/>
            </a:lvl4pPr>
            <a:lvl5pPr>
              <a:lnSpc>
                <a:spcPct val="120000"/>
              </a:lnSpc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de secció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ctr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insertar una imagen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ión general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rtlCol="0" anchor="b">
            <a:normAutofit/>
          </a:bodyPr>
          <a:lstStyle>
            <a:lvl1pPr>
              <a:defRPr lang="es-ES" sz="48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n-US"/>
              <a:t>Click icon to add picture</a:t>
            </a:r>
            <a:endParaRPr lang="es-ES"/>
          </a:p>
        </p:txBody>
      </p:sp>
      <p:sp>
        <p:nvSpPr>
          <p:cNvPr id="10" name="Marcador de contenido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 rtlCol="0">
            <a:normAutofit/>
          </a:bodyPr>
          <a:lstStyle>
            <a:lvl1pPr marL="0" indent="0">
              <a:buFont typeface="Arial" panose="020B0604020202020204" pitchFamily="34" charset="0"/>
              <a:buNone/>
              <a:defRPr lang="es-ES" sz="2000"/>
            </a:lvl1pPr>
            <a:lvl2pPr marL="457200" indent="0">
              <a:buNone/>
              <a:defRPr lang="es-ES" sz="1800"/>
            </a:lvl2pPr>
            <a:lvl3pPr marL="914400" indent="0">
              <a:buNone/>
              <a:defRPr lang="es-ES" sz="1600"/>
            </a:lvl3pPr>
            <a:lvl4pPr marL="1371600" indent="0">
              <a:buNone/>
              <a:defRPr lang="es-ES" sz="1400"/>
            </a:lvl4pPr>
            <a:lvl5pPr marL="1828800" indent="0">
              <a:buNone/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nido e imagen a la izquierda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l">
              <a:buNone/>
              <a:defRPr lang="es-ES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/>
          </a:p>
        </p:txBody>
      </p:sp>
      <p:sp>
        <p:nvSpPr>
          <p:cNvPr id="9" name="Marcador de contenido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 rtlCol="0"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lang="es-ES"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s-ES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dos contenidos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dos contenid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1"/>
            </a:lvl1pPr>
            <a:lvl2pPr>
              <a:spcBef>
                <a:spcPts val="0"/>
              </a:spcBef>
              <a:spcAft>
                <a:spcPts val="1200"/>
              </a:spcAft>
              <a:defRPr lang="es-ES" sz="1800" b="1"/>
            </a:lvl2pPr>
            <a:lvl3pPr>
              <a:spcBef>
                <a:spcPts val="0"/>
              </a:spcBef>
              <a:spcAft>
                <a:spcPts val="1200"/>
              </a:spcAft>
              <a:defRPr lang="es-ES" sz="1600" b="1"/>
            </a:lvl3pPr>
            <a:lvl4pPr>
              <a:spcBef>
                <a:spcPts val="0"/>
              </a:spcBef>
              <a:spcAft>
                <a:spcPts val="1200"/>
              </a:spcAft>
              <a:defRPr lang="es-ES" sz="1400" b="1"/>
            </a:lvl4pPr>
            <a:lvl5pPr>
              <a:spcBef>
                <a:spcPts val="0"/>
              </a:spcBef>
              <a:spcAft>
                <a:spcPts val="1200"/>
              </a:spcAft>
              <a:defRPr lang="es-ES" sz="1400" b="1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/>
            </a:lvl1pPr>
            <a:lvl2pPr>
              <a:spcBef>
                <a:spcPts val="0"/>
              </a:spcBef>
              <a:spcAft>
                <a:spcPts val="1200"/>
              </a:spcAft>
              <a:defRPr lang="es-ES" sz="1800"/>
            </a:lvl2pPr>
            <a:lvl3pPr>
              <a:spcBef>
                <a:spcPts val="0"/>
              </a:spcBef>
              <a:spcAft>
                <a:spcPts val="1200"/>
              </a:spcAft>
              <a:defRPr lang="es-ES" sz="1600"/>
            </a:lvl3pPr>
            <a:lvl4pPr>
              <a:spcBef>
                <a:spcPts val="0"/>
              </a:spcBef>
              <a:spcAft>
                <a:spcPts val="1200"/>
              </a:spcAft>
              <a:defRPr lang="es-ES" sz="1400"/>
            </a:lvl4pPr>
            <a:lvl5pPr>
              <a:spcBef>
                <a:spcPts val="0"/>
              </a:spcBef>
              <a:spcAft>
                <a:spcPts val="1200"/>
              </a:spcAft>
              <a:defRPr lang="es-ES" sz="14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nido e imagen a la derech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ítulo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contenido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0"/>
            </a:lvl1pPr>
            <a:lvl2pPr>
              <a:spcBef>
                <a:spcPts val="0"/>
              </a:spcBef>
              <a:spcAft>
                <a:spcPts val="1200"/>
              </a:spcAft>
              <a:defRPr lang="es-ES" sz="1800" b="0"/>
            </a:lvl2pPr>
            <a:lvl3pPr>
              <a:spcBef>
                <a:spcPts val="0"/>
              </a:spcBef>
              <a:spcAft>
                <a:spcPts val="1200"/>
              </a:spcAft>
              <a:defRPr lang="es-ES" sz="1600" b="0"/>
            </a:lvl3pPr>
            <a:lvl4pPr>
              <a:spcBef>
                <a:spcPts val="0"/>
              </a:spcBef>
              <a:spcAft>
                <a:spcPts val="1200"/>
              </a:spcAft>
              <a:defRPr lang="es-ES" sz="1400" b="0"/>
            </a:lvl4pPr>
            <a:lvl5pPr>
              <a:spcBef>
                <a:spcPts val="0"/>
              </a:spcBef>
              <a:spcAft>
                <a:spcPts val="1200"/>
              </a:spcAft>
              <a:defRPr lang="es-ES" sz="1400" b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r">
              <a:buNone/>
              <a:defRPr lang="es-ES" sz="2000"/>
            </a:lvl1pPr>
          </a:lstStyle>
          <a:p>
            <a:pPr rtl="0"/>
            <a:r>
              <a:rPr lang="en-US"/>
              <a:t>Click icon to add picture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y tabla del títul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0"/>
            </a:lvl1pPr>
            <a:lvl2pPr>
              <a:spcBef>
                <a:spcPts val="0"/>
              </a:spcBef>
              <a:spcAft>
                <a:spcPts val="1200"/>
              </a:spcAft>
              <a:defRPr lang="es-ES" sz="1800" b="0"/>
            </a:lvl2pPr>
            <a:lvl3pPr>
              <a:spcBef>
                <a:spcPts val="0"/>
              </a:spcBef>
              <a:spcAft>
                <a:spcPts val="1200"/>
              </a:spcAft>
              <a:defRPr lang="es-ES" sz="1600" b="0"/>
            </a:lvl3pPr>
            <a:lvl4pPr>
              <a:spcBef>
                <a:spcPts val="0"/>
              </a:spcBef>
              <a:spcAft>
                <a:spcPts val="1200"/>
              </a:spcAft>
              <a:defRPr lang="es-ES" sz="1400" b="0"/>
            </a:lvl4pPr>
            <a:lvl5pPr>
              <a:spcBef>
                <a:spcPts val="0"/>
              </a:spcBef>
              <a:spcAft>
                <a:spcPts val="1200"/>
              </a:spcAft>
              <a:defRPr lang="es-ES" sz="1400" b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3" name="Marcador de posición de título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 rtlCol="0">
            <a:normAutofit/>
          </a:bodyPr>
          <a:lstStyle>
            <a:lvl1pPr>
              <a:defRPr lang="es-ES" sz="2000"/>
            </a:lvl1pPr>
          </a:lstStyle>
          <a:p>
            <a:pPr rtl="0"/>
            <a:r>
              <a:rPr lang="es-ES"/>
              <a:t>Haga clic en el icono para insertar una tabla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dos contenidos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 rtlCol="0"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lang="es-ES"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lang="es-ES"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lang="es-ES"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lang="es-ES"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lang="es-ES" sz="1600" b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2" name="Marcador de contenido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s-ES"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lang="es-ES"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lang="es-ES"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lang="es-ES"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lang="es-ES" sz="1400" b="1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 rtlCol="0">
            <a:normAutofit/>
          </a:bodyPr>
          <a:lstStyle>
            <a:lvl1pPr>
              <a:defRPr lang="es-ES" sz="32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posición de tabla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 rtlCol="0">
            <a:normAutofit/>
          </a:bodyPr>
          <a:lstStyle>
            <a:lvl1pPr>
              <a:defRPr lang="es-ES" sz="2400"/>
            </a:lvl1pPr>
          </a:lstStyle>
          <a:p>
            <a:pPr rtl="0"/>
            <a:r>
              <a:rPr lang="en-US"/>
              <a:t>Click icon to add table</a:t>
            </a:r>
            <a:endParaRPr lang="es-ES"/>
          </a:p>
        </p:txBody>
      </p:sp>
      <p:sp>
        <p:nvSpPr>
          <p:cNvPr id="5" name="Marcador de número de diapositiva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rtlCol="0" anchor="b">
            <a:normAutofit/>
          </a:bodyPr>
          <a:lstStyle>
            <a:lvl1pPr>
              <a:defRPr lang="es-ES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lang="es-ES"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s-ES" sz="120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/>
              <a:t>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es-ES" smtClean="0"/>
              <a:pPr rtl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illo-bit/Beletz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3328"/>
            <a:ext cx="8785113" cy="568363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sz="3200" dirty="0">
                <a:solidFill>
                  <a:schemeClr val="accent2">
                    <a:lumMod val="50000"/>
                  </a:schemeClr>
                </a:solidFill>
              </a:rPr>
              <a:t>Al rescate de la Línea Joven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DA2EC-33CE-482B-D74A-F3FCA8268678}"/>
              </a:ext>
            </a:extLst>
          </p:cNvPr>
          <p:cNvSpPr txBox="1"/>
          <p:nvPr/>
        </p:nvSpPr>
        <p:spPr>
          <a:xfrm>
            <a:off x="116541" y="671691"/>
            <a:ext cx="11331388" cy="5693866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EC" sz="1600" dirty="0">
                <a:solidFill>
                  <a:schemeClr val="tx1"/>
                </a:solidFill>
              </a:rPr>
              <a:t>Objetivo: Analizar y optimizar el desempeño de la Línea Joven en ventas, web y marketing, mediante un enfoque integrado de Data </a:t>
            </a:r>
            <a:r>
              <a:rPr lang="es-EC" sz="1600" dirty="0" err="1">
                <a:solidFill>
                  <a:schemeClr val="tx1"/>
                </a:solidFill>
              </a:rPr>
              <a:t>Analytics</a:t>
            </a:r>
            <a:r>
              <a:rPr lang="es-EC" sz="1600" dirty="0">
                <a:solidFill>
                  <a:schemeClr val="tx1"/>
                </a:solidFill>
              </a:rPr>
              <a:t> y Modelado Predictivo.</a:t>
            </a:r>
          </a:p>
          <a:p>
            <a:endParaRPr lang="es-EC" sz="1600" dirty="0">
              <a:solidFill>
                <a:schemeClr val="tx1"/>
              </a:solidFill>
            </a:endParaRPr>
          </a:p>
          <a:p>
            <a:r>
              <a:rPr lang="es-EC" sz="1600" dirty="0">
                <a:solidFill>
                  <a:schemeClr val="tx1"/>
                </a:solidFill>
              </a:rPr>
              <a:t>Estrategia general:</a:t>
            </a:r>
          </a:p>
          <a:p>
            <a:r>
              <a:rPr lang="es-EC" sz="1600" dirty="0">
                <a:solidFill>
                  <a:schemeClr val="tx1"/>
                </a:solidFill>
              </a:rPr>
              <a:t>1. Recolección y consolidación de datos: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Ventas: unidades, ingresos, precios.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Web: visitas, tiempo en página, clics, </a:t>
            </a:r>
            <a:r>
              <a:rPr lang="es-EC" sz="1600" dirty="0" err="1">
                <a:solidFill>
                  <a:schemeClr val="tx1"/>
                </a:solidFill>
              </a:rPr>
              <a:t>add-to-cart</a:t>
            </a:r>
            <a:r>
              <a:rPr lang="es-EC" sz="1600" dirty="0">
                <a:solidFill>
                  <a:schemeClr val="tx1"/>
                </a:solidFill>
              </a:rPr>
              <a:t> y compras.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Marketing: inversión, conversiones, CPM, CPC, CTR.</a:t>
            </a:r>
          </a:p>
          <a:p>
            <a:r>
              <a:rPr lang="es-EC" sz="1600" dirty="0">
                <a:solidFill>
                  <a:schemeClr val="tx1"/>
                </a:solidFill>
              </a:rPr>
              <a:t>2. Limpieza y transformación: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Normalización de fechas, identificación de línea joven, cálculo de métricas clave.</a:t>
            </a:r>
          </a:p>
          <a:p>
            <a:r>
              <a:rPr lang="es-EC" sz="1600" dirty="0">
                <a:solidFill>
                  <a:schemeClr val="tx1"/>
                </a:solidFill>
              </a:rPr>
              <a:t>3. Análisis exploratorio de datos (EDA):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Estadísticas descriptivas, gráficos básicos, correlaciones, tendencias mensuales.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4. Integración de </a:t>
            </a:r>
            <a:r>
              <a:rPr lang="es-EC" sz="1600" dirty="0" err="1">
                <a:solidFill>
                  <a:schemeClr val="tx1"/>
                </a:solidFill>
              </a:rPr>
              <a:t>datasets</a:t>
            </a:r>
            <a:r>
              <a:rPr lang="es-EC" sz="1600" dirty="0">
                <a:solidFill>
                  <a:schemeClr val="tx1"/>
                </a:solidFill>
              </a:rPr>
              <a:t>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Consolidación mensual de ventas, web y marketing.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Creación de métricas derivadas: ROI marketing, tasas de conversión, precio promedio.</a:t>
            </a:r>
          </a:p>
          <a:p>
            <a:r>
              <a:rPr lang="es-EC" sz="1600" dirty="0">
                <a:solidFill>
                  <a:schemeClr val="tx1"/>
                </a:solidFill>
              </a:rPr>
              <a:t>5. Modelado predictivo: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</a:t>
            </a:r>
            <a:r>
              <a:rPr lang="es-EC" sz="1600" dirty="0" err="1">
                <a:solidFill>
                  <a:schemeClr val="tx1"/>
                </a:solidFill>
              </a:rPr>
              <a:t>RandomForest</a:t>
            </a:r>
            <a:r>
              <a:rPr lang="es-EC" sz="1600" dirty="0">
                <a:solidFill>
                  <a:schemeClr val="tx1"/>
                </a:solidFill>
              </a:rPr>
              <a:t> y </a:t>
            </a:r>
            <a:r>
              <a:rPr lang="es-EC" sz="1600" dirty="0" err="1">
                <a:solidFill>
                  <a:schemeClr val="tx1"/>
                </a:solidFill>
              </a:rPr>
              <a:t>GradientBoosting</a:t>
            </a:r>
            <a:r>
              <a:rPr lang="es-EC" sz="1600" dirty="0">
                <a:solidFill>
                  <a:schemeClr val="tx1"/>
                </a:solidFill>
              </a:rPr>
              <a:t> para identificar factores clave que influyen en ventas.</a:t>
            </a:r>
          </a:p>
          <a:p>
            <a:r>
              <a:rPr lang="es-EC" sz="1600" dirty="0">
                <a:solidFill>
                  <a:schemeClr val="tx1"/>
                </a:solidFill>
              </a:rPr>
              <a:t>6. Generación de reportes y visualizaciones: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Guardado de gráficos por subcarpeta en `</a:t>
            </a:r>
            <a:r>
              <a:rPr lang="es-EC" sz="1600" dirty="0" err="1">
                <a:solidFill>
                  <a:schemeClr val="tx1"/>
                </a:solidFill>
              </a:rPr>
              <a:t>reports</a:t>
            </a:r>
            <a:r>
              <a:rPr lang="es-EC" sz="1600" dirty="0">
                <a:solidFill>
                  <a:schemeClr val="tx1"/>
                </a:solidFill>
              </a:rPr>
              <a:t>/figures/final`.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Guardado de </a:t>
            </a:r>
            <a:r>
              <a:rPr lang="es-EC" sz="1600" dirty="0" err="1">
                <a:solidFill>
                  <a:schemeClr val="tx1"/>
                </a:solidFill>
              </a:rPr>
              <a:t>datasets</a:t>
            </a:r>
            <a:r>
              <a:rPr lang="es-EC" sz="1600" dirty="0">
                <a:solidFill>
                  <a:schemeClr val="tx1"/>
                </a:solidFill>
              </a:rPr>
              <a:t> finales en `data/final`.</a:t>
            </a:r>
          </a:p>
          <a:p>
            <a:r>
              <a:rPr lang="es-EC" sz="1600" dirty="0">
                <a:solidFill>
                  <a:schemeClr val="tx1"/>
                </a:solidFill>
              </a:rPr>
              <a:t>7. Resumen ejecutivo y conclusiones:</a:t>
            </a:r>
          </a:p>
          <a:p>
            <a:r>
              <a:rPr lang="es-EC" sz="1600" dirty="0">
                <a:solidFill>
                  <a:schemeClr val="tx1"/>
                </a:solidFill>
              </a:rPr>
              <a:t>   - Identificación de meses clave, recomendaciones y oportunidades de mejora.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846C16-5A67-BE50-F1FE-92AF66062896}"/>
              </a:ext>
            </a:extLst>
          </p:cNvPr>
          <p:cNvSpPr txBox="1"/>
          <p:nvPr/>
        </p:nvSpPr>
        <p:spPr>
          <a:xfrm>
            <a:off x="116541" y="6446895"/>
            <a:ext cx="9957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400" dirty="0">
                <a:solidFill>
                  <a:schemeClr val="tx2"/>
                </a:solidFill>
              </a:rPr>
              <a:t>Datos crudos → Limpieza/Transformación → EDA → Integración → Modelado Predictivo → Visualización → Reporte Ejecutivo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DCEF5F-5440-039A-E534-D0C342CD6566}"/>
              </a:ext>
            </a:extLst>
          </p:cNvPr>
          <p:cNvSpPr txBox="1"/>
          <p:nvPr/>
        </p:nvSpPr>
        <p:spPr>
          <a:xfrm>
            <a:off x="10074088" y="202843"/>
            <a:ext cx="1766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dirty="0">
                <a:solidFill>
                  <a:schemeClr val="accent2"/>
                </a:solidFill>
              </a:rPr>
              <a:t>Guillermo Tapia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4E92E9-26DF-793C-9213-94CA485E8D25}"/>
              </a:ext>
            </a:extLst>
          </p:cNvPr>
          <p:cNvSpPr txBox="1"/>
          <p:nvPr/>
        </p:nvSpPr>
        <p:spPr>
          <a:xfrm>
            <a:off x="6429935" y="1827911"/>
            <a:ext cx="3951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dirty="0">
                <a:hlinkClick r:id="rId3"/>
              </a:rPr>
              <a:t>https://github.com/Guillo-bit/Beletza</a:t>
            </a:r>
            <a:r>
              <a:rPr lang="es-EC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3474D05E-8A36-8D9F-519E-DB514A69D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068" y="177842"/>
            <a:ext cx="6571129" cy="86780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Resumen Ejecutivo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2</a:t>
            </a:fld>
            <a:endParaRPr lang="es-E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D9D3F97-A122-4E57-7ADC-DB3063CF9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069138"/>
              </p:ext>
            </p:extLst>
          </p:nvPr>
        </p:nvGraphicFramePr>
        <p:xfrm>
          <a:off x="2227728" y="1891412"/>
          <a:ext cx="7983071" cy="329184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4164106">
                  <a:extLst>
                    <a:ext uri="{9D8B030D-6E8A-4147-A177-3AD203B41FA5}">
                      <a16:colId xmlns:a16="http://schemas.microsoft.com/office/drawing/2014/main" val="283804488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3877497600"/>
                    </a:ext>
                  </a:extLst>
                </a:gridCol>
                <a:gridCol w="1264024">
                  <a:extLst>
                    <a:ext uri="{9D8B030D-6E8A-4147-A177-3AD203B41FA5}">
                      <a16:colId xmlns:a16="http://schemas.microsoft.com/office/drawing/2014/main" val="14993738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Indicador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Mes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Valor</a:t>
                      </a:r>
                      <a:endParaRPr lang="es-EC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241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Periodo Analizado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Mayo 2024 – Abril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45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Clientes 18-25 años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216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mayor ROI Marketing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35.77%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8388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menor ROI Marketing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9.58%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3709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 dirty="0"/>
                        <a:t>Mes con mayor Tasa de conversión web</a:t>
                      </a:r>
                      <a:endParaRPr lang="es-EC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56735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menor Tasa de conversión web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2024-06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8439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mayor Ingresos Totales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2025-02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679,130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4849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b="1"/>
                        <a:t>Mes con menor Ingresos Totales</a:t>
                      </a:r>
                      <a:endParaRPr lang="es-EC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/>
                        <a:t>2024-12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C" dirty="0"/>
                        <a:t>504,221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6319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990" y="434225"/>
            <a:ext cx="9524998" cy="1499627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r>
              <a:rPr lang="es-ES" kern="1200" cap="all" baseline="0">
                <a:latin typeface="+mj-lt"/>
                <a:ea typeface="+mj-ea"/>
                <a:cs typeface="+mj-cs"/>
              </a:rPr>
              <a:t>Evolución Ventas -Ingresos</a:t>
            </a:r>
          </a:p>
        </p:txBody>
      </p:sp>
      <p:pic>
        <p:nvPicPr>
          <p:cNvPr id="10" name="Picture 9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31F1D07B-F469-F4F5-F9BA-73A65D18AD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95" r="15790" b="2"/>
          <a:stretch>
            <a:fillRect/>
          </a:stretch>
        </p:blipFill>
        <p:spPr>
          <a:xfrm>
            <a:off x="914399" y="2022250"/>
            <a:ext cx="6257366" cy="3914910"/>
          </a:xfrm>
          <a:prstGeom prst="rect">
            <a:avLst/>
          </a:prstGeom>
          <a:noFill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8A61AC-146F-E8B2-BDB2-B1DCFB734826}"/>
              </a:ext>
            </a:extLst>
          </p:cNvPr>
          <p:cNvSpPr txBox="1"/>
          <p:nvPr/>
        </p:nvSpPr>
        <p:spPr>
          <a:xfrm>
            <a:off x="7967475" y="2018119"/>
            <a:ext cx="2449514" cy="3931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Evolución mensual de unidades vendidas e ingresos totales.</a:t>
            </a:r>
          </a:p>
          <a:p>
            <a:pPr marL="228600"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Se observa crecimiento en ingresos durante Febrero 2025, coincidiendo con incremento en ROI de marketing.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3EB35D4F-684D-2D5E-32E8-EF0C3CE26E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s-ES" smtClean="0"/>
              <a:pPr>
                <a:spcAft>
                  <a:spcPts val="600"/>
                </a:spcAft>
              </a:pPr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990" y="434225"/>
            <a:ext cx="9524998" cy="1499627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ROI de Marketing</a:t>
            </a:r>
          </a:p>
        </p:txBody>
      </p:sp>
      <p:pic>
        <p:nvPicPr>
          <p:cNvPr id="6" name="Picture 5" descr="A graph with green bars&#10;&#10;AI-generated content may be incorrect.">
            <a:extLst>
              <a:ext uri="{FF2B5EF4-FFF2-40B4-BE49-F238E27FC236}">
                <a16:creationId xmlns:a16="http://schemas.microsoft.com/office/drawing/2014/main" id="{C46EBA83-4E24-57A3-5497-74105269F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415363"/>
            <a:ext cx="6257366" cy="3128683"/>
          </a:xfrm>
          <a:prstGeom prst="rect">
            <a:avLst/>
          </a:prstGeom>
          <a:noFill/>
        </p:spPr>
      </p:pic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8B672BC8-D7EC-066C-9025-5F29713D849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967475" y="2018119"/>
            <a:ext cx="2449514" cy="3931919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lang="es-EC" sz="1700" b="0" dirty="0"/>
              <a:t>ROI mensual del marketing digital para la Línea Joven.</a:t>
            </a:r>
          </a:p>
          <a:p>
            <a:r>
              <a:rPr lang="es-EC" sz="1700" b="0" dirty="0"/>
              <a:t>Febrero 2025 destaca como el mes con mayor eficiencia en inversión (35.77%).</a:t>
            </a:r>
          </a:p>
          <a:p>
            <a:r>
              <a:rPr lang="es-EC" sz="1700" b="0" dirty="0"/>
              <a:t>Abril 2025 presenta el ROI más bajo (9.58%), indicando oportunidad de optimización.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09290B6-347C-5AD2-782C-A53187C92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B5CEABB6-07DC-46E8-9B57-56EC44A396E5}" type="slidenum">
              <a:rPr lang="es-ES" smtClean="0"/>
              <a:pPr rtl="0">
                <a:spcAft>
                  <a:spcPts val="600"/>
                </a:spcAft>
              </a:pPr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176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93" y="0"/>
            <a:ext cx="9524998" cy="1499627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Tasas de Conversión web</a:t>
            </a:r>
          </a:p>
        </p:txBody>
      </p:sp>
      <p:pic>
        <p:nvPicPr>
          <p:cNvPr id="6" name="Picture 5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A7870D73-9305-95C9-CDA1-5AF5DF4927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88" r="697" b="2"/>
          <a:stretch>
            <a:fillRect/>
          </a:stretch>
        </p:blipFill>
        <p:spPr>
          <a:xfrm>
            <a:off x="471725" y="3217984"/>
            <a:ext cx="4706624" cy="2944691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F97739-E0DF-24F3-7886-013A799A52C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71305" y="1596088"/>
            <a:ext cx="9291574" cy="3931919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lang="es-EC" sz="1700" b="0" dirty="0"/>
              <a:t>Se muestran la tasa de conversión y la tasa de </a:t>
            </a:r>
            <a:r>
              <a:rPr lang="es-EC" sz="1700" b="0" dirty="0" err="1"/>
              <a:t>add-to-cart</a:t>
            </a:r>
            <a:r>
              <a:rPr lang="es-EC" sz="1700" b="0" dirty="0"/>
              <a:t> mensuales.</a:t>
            </a:r>
          </a:p>
          <a:p>
            <a:r>
              <a:rPr lang="es-EC" sz="1700" b="0" dirty="0"/>
              <a:t>Febrero 2025 también lidera la tasa de conversión web (15%).</a:t>
            </a:r>
          </a:p>
          <a:p>
            <a:r>
              <a:rPr lang="es-EC" sz="1700" b="0" dirty="0"/>
              <a:t>Junio 2024 presenta conversión nula (0%), indicando necesidad de mejora en </a:t>
            </a:r>
            <a:r>
              <a:rPr lang="es-EC" sz="1700" b="0" dirty="0" err="1"/>
              <a:t>engagement</a:t>
            </a:r>
            <a:r>
              <a:rPr lang="es-EC" sz="1700" b="0" dirty="0"/>
              <a:t>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rtl="0">
              <a:spcAft>
                <a:spcPts val="600"/>
              </a:spcAft>
            </a:pPr>
            <a:fld id="{B5CEABB6-07DC-46E8-9B57-56EC44A396E5}" type="slidenum">
              <a:rPr lang="es-ES" smtClean="0"/>
              <a:pPr rtl="0">
                <a:spcAft>
                  <a:spcPts val="600"/>
                </a:spcAft>
              </a:pPr>
              <a:t>5</a:t>
            </a:fld>
            <a:endParaRPr lang="es-ES"/>
          </a:p>
        </p:txBody>
      </p:sp>
      <p:pic>
        <p:nvPicPr>
          <p:cNvPr id="8" name="Picture 7" descr="A graph with green and blue lines&#10;&#10;AI-generated content may be incorrect.">
            <a:extLst>
              <a:ext uri="{FF2B5EF4-FFF2-40B4-BE49-F238E27FC236}">
                <a16:creationId xmlns:a16="http://schemas.microsoft.com/office/drawing/2014/main" id="{19D0EC11-4515-1F95-BB22-E4E4864414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321820"/>
            <a:ext cx="5474041" cy="2737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r>
              <a:rPr lang="es-EC" dirty="0"/>
              <a:t>Evolución Consolidada Ventas, Web y Marketing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BEA7D4-8B96-5A0E-252E-6B8E8B1CF1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310129" cy="3747180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lang="es-EC" b="0" noProof="1"/>
              <a:t>Análisis combinado de ventas, comportamiento web e inversión de marketing.</a:t>
            </a:r>
          </a:p>
          <a:p>
            <a:r>
              <a:rPr lang="es-EC" b="0" noProof="1"/>
              <a:t>Permite observar correlaciones y tendencias integrales.</a:t>
            </a:r>
            <a:endParaRPr lang="es-ES" b="0" noProof="1"/>
          </a:p>
        </p:txBody>
      </p:sp>
      <p:pic>
        <p:nvPicPr>
          <p:cNvPr id="8" name="Picture 7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398088D8-40DF-7CAF-1749-FD2D390419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913" b="1"/>
          <a:stretch>
            <a:fillRect/>
          </a:stretch>
        </p:blipFill>
        <p:spPr>
          <a:xfrm>
            <a:off x="4602310" y="2018120"/>
            <a:ext cx="6751489" cy="3747180"/>
          </a:xfrm>
          <a:prstGeom prst="rect">
            <a:avLst/>
          </a:prstGeom>
          <a:noFill/>
        </p:spPr>
      </p:pic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DD21954E-BB7F-D9C8-824F-283150FC5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B5CEABB6-07DC-46E8-9B57-56EC44A396E5}" type="slidenum">
              <a:rPr lang="es-ES" smtClean="0"/>
              <a:pPr rtl="0">
                <a:spcAft>
                  <a:spcPts val="600"/>
                </a:spcAft>
              </a:pPr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10235"/>
            <a:ext cx="4471517" cy="7234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Correlaciones </a:t>
            </a:r>
            <a:r>
              <a:rPr lang="es-ES" dirty="0" err="1"/>
              <a:t>ClaVe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5DADF2-8E4D-6C0E-0FA2-C5228AF29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6725" y="1172216"/>
            <a:ext cx="5181600" cy="3225355"/>
          </a:xfrm>
        </p:spPr>
        <p:txBody>
          <a:bodyPr rtlCol="0">
            <a:normAutofit fontScale="92500" lnSpcReduction="20000"/>
          </a:bodyPr>
          <a:lstStyle>
            <a:defPPr>
              <a:defRPr lang="es-ES"/>
            </a:defPPr>
          </a:lstStyle>
          <a:p>
            <a:r>
              <a:rPr lang="es-ES" noProof="1"/>
              <a:t>Matriz de correlaciones entre métricas principales:</a:t>
            </a:r>
          </a:p>
          <a:p>
            <a:endParaRPr lang="es-ES" noProof="1"/>
          </a:p>
          <a:p>
            <a:r>
              <a:rPr lang="es-ES" noProof="1"/>
              <a:t>Correlaciones más relevantes (|corr| &gt; 0.5):</a:t>
            </a:r>
          </a:p>
          <a:p>
            <a:r>
              <a:rPr lang="es-ES" noProof="1"/>
              <a:t>- Ventas ↔ Ingresos Totales: 0.78</a:t>
            </a:r>
          </a:p>
          <a:p>
            <a:r>
              <a:rPr lang="es-ES" noProof="1"/>
              <a:t>- Ventas ↔ Compras web: 0.50</a:t>
            </a:r>
          </a:p>
          <a:p>
            <a:r>
              <a:rPr lang="es-ES" noProof="1"/>
              <a:t>- Inversión Marketing ↔ Compras web: -0.58</a:t>
            </a:r>
          </a:p>
          <a:p>
            <a:r>
              <a:rPr lang="es-ES" noProof="1"/>
              <a:t>- Inversión Marketing ↔ Conversiones: 0.65</a:t>
            </a:r>
          </a:p>
          <a:p>
            <a:r>
              <a:rPr lang="es-ES" noProof="1"/>
              <a:t>- Add-to-cart ↔ Compras web: 0.71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7</a:t>
            </a:fld>
            <a:endParaRPr lang="es-ES" dirty="0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D606D7-B11C-E5BB-DB99-5942254175EA}"/>
              </a:ext>
            </a:extLst>
          </p:cNvPr>
          <p:cNvSpPr txBox="1">
            <a:spLocks/>
          </p:cNvSpPr>
          <p:nvPr/>
        </p:nvSpPr>
        <p:spPr>
          <a:xfrm>
            <a:off x="5961529" y="210235"/>
            <a:ext cx="6042212" cy="11855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32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C" dirty="0"/>
              <a:t>Modelos Predictivos y </a:t>
            </a:r>
            <a:r>
              <a:rPr lang="es-EC" dirty="0" err="1"/>
              <a:t>Feature</a:t>
            </a:r>
            <a:r>
              <a:rPr lang="es-EC" dirty="0"/>
              <a:t> </a:t>
            </a:r>
            <a:r>
              <a:rPr lang="es-EC" dirty="0" err="1"/>
              <a:t>Importance</a:t>
            </a:r>
            <a:endParaRPr lang="es-EC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8E63B9-05A9-6AEC-1F03-690D38F33AA2}"/>
              </a:ext>
            </a:extLst>
          </p:cNvPr>
          <p:cNvSpPr txBox="1"/>
          <p:nvPr/>
        </p:nvSpPr>
        <p:spPr>
          <a:xfrm>
            <a:off x="5961529" y="1318865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dirty="0" err="1"/>
              <a:t>RandomForest</a:t>
            </a:r>
            <a:r>
              <a:rPr lang="es-EC" dirty="0"/>
              <a:t>:</a:t>
            </a:r>
          </a:p>
          <a:p>
            <a:r>
              <a:rPr lang="es-EC" dirty="0"/>
              <a:t>- RMSE: 80.30, R²: -15.27</a:t>
            </a:r>
          </a:p>
          <a:p>
            <a:r>
              <a:rPr lang="es-EC" dirty="0"/>
              <a:t>- Variables más importantes: Inversión Marketing, Conversiones, Tiempo promedio web</a:t>
            </a:r>
          </a:p>
          <a:p>
            <a:endParaRPr lang="es-EC" dirty="0"/>
          </a:p>
          <a:p>
            <a:r>
              <a:rPr lang="es-EC" dirty="0" err="1"/>
              <a:t>GradientBoosting</a:t>
            </a:r>
            <a:r>
              <a:rPr lang="es-EC" dirty="0"/>
              <a:t>:</a:t>
            </a:r>
          </a:p>
          <a:p>
            <a:r>
              <a:rPr lang="es-EC" dirty="0"/>
              <a:t>- RMSE: 98.84, R²: -23.66</a:t>
            </a:r>
          </a:p>
          <a:p>
            <a:r>
              <a:rPr lang="es-EC" dirty="0"/>
              <a:t>- Variables más importantes: Conversiones, Clics, </a:t>
            </a:r>
            <a:r>
              <a:rPr lang="es-EC" dirty="0" err="1"/>
              <a:t>Add-to-cart</a:t>
            </a:r>
            <a:endParaRPr lang="es-EC" dirty="0"/>
          </a:p>
        </p:txBody>
      </p:sp>
      <p:pic>
        <p:nvPicPr>
          <p:cNvPr id="14" name="Picture 13" descr="A graph of a number of colored bars&#10;&#10;AI-generated content may be incorrect.">
            <a:extLst>
              <a:ext uri="{FF2B5EF4-FFF2-40B4-BE49-F238E27FC236}">
                <a16:creationId xmlns:a16="http://schemas.microsoft.com/office/drawing/2014/main" id="{BC1F5A02-5C66-35E1-F64C-719073C0E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751" y="3991990"/>
            <a:ext cx="4547350" cy="2842093"/>
          </a:xfrm>
          <a:prstGeom prst="rect">
            <a:avLst/>
          </a:prstGeom>
        </p:spPr>
      </p:pic>
      <p:pic>
        <p:nvPicPr>
          <p:cNvPr id="16" name="Picture 15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A474A21E-4F6C-9A03-9EAF-8AA11BBBE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725" y="4211644"/>
            <a:ext cx="4019849" cy="251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DB0AE-5ADD-1975-6BDD-38608925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Conclusiones y Recomendaciones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8</a:t>
            </a:fld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D15CB97-1D32-31A8-441E-48B3DDFA7E6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86118" y="2018120"/>
            <a:ext cx="10367681" cy="3747180"/>
          </a:xfrm>
        </p:spPr>
        <p:txBody>
          <a:bodyPr/>
          <a:lstStyle/>
          <a:p>
            <a:r>
              <a:rPr lang="es-EC" dirty="0"/>
              <a:t>1. Febrero 2025 fue el mes más destacado en ROI, conversión web e ingresos.</a:t>
            </a:r>
          </a:p>
          <a:p>
            <a:r>
              <a:rPr lang="es-EC" dirty="0"/>
              <a:t>2. La relación entre inversión y resultados no es lineal; optimizar inversión puede mejorar ROI.</a:t>
            </a:r>
          </a:p>
          <a:p>
            <a:r>
              <a:rPr lang="es-EC" dirty="0"/>
              <a:t>3. Variables web (clics, </a:t>
            </a:r>
            <a:r>
              <a:rPr lang="es-EC" dirty="0" err="1"/>
              <a:t>add-to-cart</a:t>
            </a:r>
            <a:r>
              <a:rPr lang="es-EC" dirty="0"/>
              <a:t>) impactan fuertemente las compras.</a:t>
            </a:r>
          </a:p>
          <a:p>
            <a:r>
              <a:rPr lang="es-EC" dirty="0"/>
              <a:t>4. Recomendación: campañas focalizadas, mejorar </a:t>
            </a:r>
            <a:r>
              <a:rPr lang="es-EC" dirty="0" err="1"/>
              <a:t>engagement</a:t>
            </a:r>
            <a:r>
              <a:rPr lang="es-EC" dirty="0"/>
              <a:t> web y ajustar inversión en meses bajos</a:t>
            </a:r>
          </a:p>
        </p:txBody>
      </p:sp>
      <p:pic>
        <p:nvPicPr>
          <p:cNvPr id="11" name="Picture 10" descr="A graph with red and orange lines&#10;&#10;AI-generated content may be incorrect.">
            <a:extLst>
              <a:ext uri="{FF2B5EF4-FFF2-40B4-BE49-F238E27FC236}">
                <a16:creationId xmlns:a16="http://schemas.microsoft.com/office/drawing/2014/main" id="{55675F63-3DCC-F804-53AD-AA03261FF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949" y="2285991"/>
            <a:ext cx="9144018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FEAA13-E02F-EB47-E510-E3F48A95F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385" y="446313"/>
            <a:ext cx="5628348" cy="144874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Próximos Pasos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5E26637-007F-EC9E-F644-AAFBA0900F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8552330" cy="3747180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C" dirty="0"/>
              <a:t>1. Implementar estrategia de marketing optimizada para meses de bajo ROI.</a:t>
            </a:r>
          </a:p>
          <a:p>
            <a:r>
              <a:rPr lang="es-EC" dirty="0"/>
              <a:t>2. Mejorar experiencia web y tasas de conversión.</a:t>
            </a:r>
          </a:p>
          <a:p>
            <a:r>
              <a:rPr lang="es-EC" dirty="0"/>
              <a:t>3. Monitorear en tiempo real indicadores clave de Línea Joven.</a:t>
            </a:r>
          </a:p>
          <a:p>
            <a:r>
              <a:rPr lang="es-EC" dirty="0"/>
              <a:t>4. Ampliar análisis predictivo para ajustar inversión y promociones.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DD930B-FB1B-543D-6828-8C31F30BB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B5CEABB6-07DC-46E8-9B57-56EC44A396E5}" type="slidenum">
              <a:rPr lang="es-ES" smtClean="0"/>
              <a:pPr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17447069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373_TF22318419_Win32" id="{C35A026D-3477-4C90-9128-052FBAE4EBCF}" vid="{4F91F622-3491-4FD9-8658-5CFF78D7702C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ventas minimalista</Template>
  <TotalTime>0</TotalTime>
  <Words>715</Words>
  <Application>Microsoft Office PowerPoint</Application>
  <PresentationFormat>Widescreen</PresentationFormat>
  <Paragraphs>111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Tenorite</vt:lpstr>
      <vt:lpstr>Personalizar</vt:lpstr>
      <vt:lpstr>Al rescate de la Línea Joven</vt:lpstr>
      <vt:lpstr>Resumen Ejecutivo</vt:lpstr>
      <vt:lpstr>Evolución Ventas -Ingresos</vt:lpstr>
      <vt:lpstr>ROI de Marketing</vt:lpstr>
      <vt:lpstr>Tasas de Conversión web</vt:lpstr>
      <vt:lpstr>Evolución Consolidada Ventas, Web y Marketing</vt:lpstr>
      <vt:lpstr>Correlaciones ClaVe</vt:lpstr>
      <vt:lpstr>Conclusiones y Recomendaciones</vt:lpstr>
      <vt:lpstr>Próximos Pasos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Alexis Guillermo Tapia Buenaño</dc:creator>
  <cp:lastModifiedBy>Alexis Guillermo Tapia Buenaño</cp:lastModifiedBy>
  <cp:revision>3</cp:revision>
  <dcterms:created xsi:type="dcterms:W3CDTF">2025-12-01T18:05:56Z</dcterms:created>
  <dcterms:modified xsi:type="dcterms:W3CDTF">2025-12-01T18:53:55Z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f7b10915-602c-481a-bdc7-238d429ea082_Enabled">
    <vt:lpwstr>true</vt:lpwstr>
  </property>
  <property fmtid="{D5CDD505-2E9C-101B-9397-08002B2CF9AE}" pid="4" name="MSIP_Label_f7b10915-602c-481a-bdc7-238d429ea082_SetDate">
    <vt:lpwstr>2025-12-01T18:34:19Z</vt:lpwstr>
  </property>
  <property fmtid="{D5CDD505-2E9C-101B-9397-08002B2CF9AE}" pid="5" name="MSIP_Label_f7b10915-602c-481a-bdc7-238d429ea082_Method">
    <vt:lpwstr>Standard</vt:lpwstr>
  </property>
  <property fmtid="{D5CDD505-2E9C-101B-9397-08002B2CF9AE}" pid="6" name="MSIP_Label_f7b10915-602c-481a-bdc7-238d429ea082_Name">
    <vt:lpwstr>defa4170-0d19-0005-0004-bc88714345d2</vt:lpwstr>
  </property>
  <property fmtid="{D5CDD505-2E9C-101B-9397-08002B2CF9AE}" pid="7" name="MSIP_Label_f7b10915-602c-481a-bdc7-238d429ea082_SiteId">
    <vt:lpwstr>9f119962-8c62-431c-a8ef-e7e0a42d11fc</vt:lpwstr>
  </property>
  <property fmtid="{D5CDD505-2E9C-101B-9397-08002B2CF9AE}" pid="8" name="MSIP_Label_f7b10915-602c-481a-bdc7-238d429ea082_ActionId">
    <vt:lpwstr>10f39345-ac1a-4af3-be08-6dc00fecf85e</vt:lpwstr>
  </property>
  <property fmtid="{D5CDD505-2E9C-101B-9397-08002B2CF9AE}" pid="9" name="MSIP_Label_f7b10915-602c-481a-bdc7-238d429ea082_ContentBits">
    <vt:lpwstr>0</vt:lpwstr>
  </property>
  <property fmtid="{D5CDD505-2E9C-101B-9397-08002B2CF9AE}" pid="10" name="MSIP_Label_f7b10915-602c-481a-bdc7-238d429ea082_Tag">
    <vt:lpwstr>10, 3, 0, 1</vt:lpwstr>
  </property>
</Properties>
</file>